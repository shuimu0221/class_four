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C98C"/>
                </a:solidFill>
                <a:latin typeface="Consolas"/>
              </a:rPr>
              <a:t>视觉组第四讲 · HELLO ARMOR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3F5F9"/>
                </a:solidFill>
                <a:latin typeface="Microsoft YaHei"/>
              </a:rPr>
              <a:t>装甲板位姿解算</a:t>
            </a:r>
          </a:p>
          <a:p>
            <a:r>
              <a:rPr sz="2000">
                <a:solidFill>
                  <a:srgbClr val="A9B4C9"/>
                </a:solidFill>
                <a:latin typeface="Microsoft YaHei"/>
              </a:rPr>
              <a:t>从 2D 识别结果到 3D 位姿：cv::solvePnP 全流程实战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9B4C9"/>
                </a:solidFill>
                <a:latin typeface="Microsoft YaHei"/>
              </a:rPr>
              <a:t>主讲人：______　　助教：______　　时长：90 分钟　　承接 Lecture 3《Hello OOP》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45720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SP 队徽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课程地图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今天 90 分钟，我们要走完这条链路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复习导入：上节课我们手里有了什么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1600200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7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67128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67128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67128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为什么装甲板需要“位姿”而不只是位置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167128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7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34056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34056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34056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PnP 原理与 cv::solvePnP 接口精讲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734056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14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00984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00984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00984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动手实验一：Task 01~03，解出 tvec / rvec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300984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20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67912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67912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67912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rvec 揭秘：旋转向量／矩阵／欧拉角／四元数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867912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14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34840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34840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34840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动手实验二：Task 04~05，把旋转变成角度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434840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16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01768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001768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001768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坐标系全景：从像素到机器人本体 / IMU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5001768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6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68696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568696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68696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总结、答疑与作业布置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5568696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4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P0 课程地图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复习导入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上节课我们手里有了什么？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P0 复习导入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P0 · 复习导入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上节课回顾（Hello OOP）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C/C++ 编译与 CMake：会写 CMakeLists.txt，能编译、运行自己的工程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面向对象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：类 = 属性 + 方法；构造/析构函数；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封装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——数据安全、隐藏实现、便于协作、防止耦合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已经写好的两个类：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Camera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类：封装取图细节，对外只给一帧图像 + 时间戳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识别器 / Detector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类：目标是识别装甲板并分类（位置、颜色、数字）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两种识别思路：传统灯条法 / YOLO-pose 端到端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作业：连接工业相机，封装相机类，用神经网络识别装甲板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P0 复习导入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P0 · 复习导入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现在，程序手里已经有了什么？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detector.detect(img)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返回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armors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（一个 Armor 列表）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Armor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结构体里有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left / right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两根灯条（Lightbar）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每根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Lightbar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有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top / bottom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两个端点 → 一块装甲板 =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4 个 2D 像素点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也就是说：识别这一步，已经把“装甲板在哪张图的哪个位置”这件事解决了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Armor / Lightbar 结构体关系图
（left/right → top/bottom → 4 个像素点）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P0 复习导入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P0 · 复习导入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只有这 4 个 2D 点，够瞄准吗？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看两张图：3 号车比 4 号车离我们更远 —— 人眼一眼就能判断距离，程序呢？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再看三张图：同一块装甲板，角度都不一样 —— 这是“朝向”的差异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提问互动：仅凭图像上 4 个像素点的坐标，你能猜出装甲板离相机多远、朝哪个方向偏吗？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同一装甲板：不同距离 + 不同旋转角度
的对比照片（3 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5715000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5B6377"/>
                </a:solidFill>
                <a:latin typeface="Microsoft YaHei"/>
              </a:rPr>
              <a:t>引导学生讨论后再进入下一部分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P0 复习导入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为什么需要位姿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位置够不够？朝向怎么描述？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P1 为什么需要位姿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P1 · 为什么需要位姿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位姿 = 位置 + 朝向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位置（Position）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：一个三维向量 (x, y, z)，装甲板中心在相机坐标系下的坐标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朝向（Orientation / Rotation）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：装甲板“转了多少度、往哪边转”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直观理解朝向——借用飞机的三个转动自由度：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偏航 yaw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：绕“上下轴”转，改变朝向左右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俯仰 pitch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：绕“左右轴”转，改变抬头低头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横滚 roll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：绕“前后轴”转，改变侧向倾斜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飞机 yaw / pitch / roll 三轴示意图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P1 · 为什么需要位姿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先认清两个坐标系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装甲板局部坐标系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：原点在装甲板中心，x 向右、y 向下、z 指向板外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物理尺寸（今天要用到）：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ARMOR_WIDTH = 0.135 m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（灯条间宽），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LIGHTBAR_LENGTH = 0.056 m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（单根灯条长）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：原点是镜头光心，随相机刚体一起平移、旋转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我们的目标：算出“装甲板坐标系”相对“相机坐标系”的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 R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和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平移 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装甲板局部坐标系 + 相机坐标系
双坐标轴示意图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P1 · 为什么需要位姿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工程上为什么必须要“姿态”，不只是“位置”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①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相机和枪管往往不重合、不共轴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—— 只用 2D 画面中心瞄准，会有系统性偏差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②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真实机器人会自转、会移动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，姿态千变万化 —— 需要用装甲板姿态反推它的旋转中心，才能预测它下一刻在哪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一句话：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2D 检测解决“看见”，3D 位姿解决“打中”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相机与枪管不共轴示意图 +
机器人自转底盘照片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PnP 原理与 API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从对应点到位姿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P2 PnP 原理与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P2 · PnP 原理与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Perspective-n-Points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已知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n 组对应点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物体局部坐标系下的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n 个三维点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（我们知道装甲板多大、点在哪）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图像上对应的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n 个二维像素点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（检测器已经给出来了）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再加上相机的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内参（焦距、主点）和畸变系数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求解：物体相对相机的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 R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和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平移 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经典 PnP 示意图：
世界坐标系 3D 点 → 图像平面 2D 点
(R, t) 箭头连接两个坐标系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P2 PnP 原理与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P2 · PnP 原理与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cv::solvePnP 函数签名精讲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OpenCV 已经把 PnP 问题的求解封装成了一个函数，我们只管“喂数据”：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11109960" cy="28346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bool cv::solvePnP(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InputArray  objectPoints,   // 输入：物体局部坐标系下的 n 个点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InputArray  imagePoints,    // 输入：图像上对应的 n 个点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InputArray  cameraMatrix,   // 输入：相机内参矩阵（我们会提供）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InputArray  distCoeffs,     // 输入：畸变系数（我们会提供）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OutputArray rvec,           // 输出：旋转向量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OutputArray tvec,           // 输出：平移向量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bool useExtrinsicGuess = false,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int  flags = SOLVEPNP_ITERATIVE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P2 PnP 原理与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P2 · PnP 原理与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输出到底是什么？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tvec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：一个 3×1 向量 —— 装甲板坐标系原点，在相机坐标系下的位置（平移向量）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rvec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：也是一个 3×1 向量，代表旋转……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rvec 具体是什么？先卖个关子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—— 我们先把代码跑起来，等会儿亲手转一转装甲板，你就懂了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装甲板坐标轴照片 + 相机坐标轴照片
（并排对比）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P2 PnP 原理与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动手实验一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Task 01~03：解出 tvec / rvec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实验环境 &amp; 点位约定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项目结构：`class/src/main.cpp` 是你要填空的文件；`tasks/` 下的 Detector 已经帮你写好，直接调用即可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关键约定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：4 个关键点的顺序 —— 以左上角灯条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顶点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为 1 号，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顺时针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1→2→3→4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1 = 左灯条上端　2 = 右灯条上端　3 = 右灯条下端　4 = 左灯条下端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这个顺序在 object_points 和 img_points 里必须完全一致，否则解出来的位姿是错的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实物装甲板照片，
绿点标注 1/2/3/4 号点位置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01 · 填写 object_points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在装甲板</a:t>
            </a:r>
            <a:r>
              <a:rPr b="1" sz="1600">
                <a:solidFill>
                  <a:srgbClr val="3D5AFE"/>
                </a:solidFill>
                <a:latin typeface="Microsoft YaHei"/>
              </a:rPr>
              <a:t>局部坐标系</a:t>
            </a:r>
            <a:r>
              <a:rPr b="0" sz="1600">
                <a:solidFill>
                  <a:srgbClr val="202433"/>
                </a:solidFill>
                <a:latin typeface="Microsoft YaHei"/>
              </a:rPr>
              <a:t>下写出 4 个点的 (x, y, 0) 坐标，结合 ARMOR_WIDTH / LIGHTBAR_LENGTH 和上一页的点序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30632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static const double LIGHTBAR_LENGTH = 0.056;  // 灯条长度  单位: 米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static const double ARMOR_WIDTH     = 0.135;  // 装甲板宽度 单位: 米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 Task 01 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object_points 是 物体局部坐标系下 n 个点 的坐标，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也就是装甲板坐标系下 4 个点的坐标。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static const std::vector&lt;cv::Point3f&gt; object_points {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{      ,      , 0 },  // 点 1  左上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{      ,      , 0 },  // 点 2  右上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{      ,      , 0 },  // 点 3  右下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{      ,      , 0 }   // 点 4  左下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8756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400">
                <a:solidFill>
                  <a:srgbClr val="5B6377"/>
                </a:solidFill>
                <a:latin typeface="Microsoft YaHei"/>
              </a:rPr>
              <a:t>· 提示：原点在板中心，x 向右为正、y 向下为正，半宽 = ARMOR_WIDTH/2，半高 = LIGHTBAR_LENGTH/2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02 · 填写 img_points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把检测器已经给出的 2D 像素点，按同样的 1→2→3→4 顺序装进 img_points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30632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auto armors = detector.detect(img);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if (!armors.empty()) {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auto armor = armors.front();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tools::draw_points(img, armor.points);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#### Task 02 #############################################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img_points 是 像素坐标系下 n 个点 的坐标，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也就是照片上装甲板 4 个点的坐标。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std::vector&lt;cv::Point2f&gt; img_points{ , , , };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提示：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- 看看 Armor 结构体有哪些成员；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- armor 的成员 left 和 right 是两根灯条 (Lightbar)；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- Lightbar 的 top / bottom 端点就是我们要的点。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###########################################################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03 · 调用 cv::solvePnP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camera_matrix / distort_coeffs 已经在代码里为你准备好，直接传入即可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 Task 03 ##############################################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cv::Mat rvec, tvec;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所有要传入的值都已经具备了。现在调用 solvePnP 解算装甲板位姿，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rvec 和 tvec 用于存储 solvePnP 输出的结果：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cv::solvePnP( , , , , rvec, tvec);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############################################################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现场演示 &amp; Debug 小贴士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编译运行：`cmake -B build &amp;&amp; cmake --build build`，再 `./build/main`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跑通后画面上会打印出 tvec 的数值（还未显示，下一环节我们再打出来）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常见报错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：`CAP_IMAGES: can't find … video.avi`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原因：在错误的目录下运行了可执行文件；解决：`cd` 回项目根目录，再 `./build/main`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终端截图：报错信息 +
cd 回根目录后正常运行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rvec 揭秘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旋转向量 / 矩阵 / 欧拉角 / 四元数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转一转，看一看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动手环节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：拿起装甲板（或转动摄像头），观察终端里 rvec 三个分量如何变化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引导提问：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只绕一个轴转，rvec 的哪个分量在变？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转得越多，rvec 的数值变化有什么规律？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先靠直觉猜一猜，再看下一页的数学定义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终端滚动输出 roll 数值
随装甲板转动变化的截图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rvec 到底是什么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旋转向量（rotation vector）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：一种紧凑的旋转表示法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方向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= 旋转轴方向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模长（大小）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= 绕这根轴旋转的角度（弧度）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好处：只用 3 个数就能表示任意旋转，比 3×3 的旋转矩阵更省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旋转的几种表示法，一张图看懂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旋转向量 rvec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 --[ cv::Rodrigues，可逆 ]--&gt; 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旋转矩阵 rmat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旋转矩阵 rmat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 --[ 反三角函数 ]--&gt; 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欧拉角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（yaw / pitch / roll）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旋转矩阵 rmat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 --[ 转换公式 ]--&gt; 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四元数 quaternion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三种表示法本质等价，只是在不同场景下各有优劣（下一页展开）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rvec → rmat → 欧拉角 / 四元数
流程示意图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从旋转矩阵提取欧拉角（INT_YXZ 约定）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拿到 rmat（旋转矩阵）之后，用反三角函数把 yaw / pitch / roll 解出来：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11109960" cy="20116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rmat 的第 i 行第 j 列元素记作 m_ij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yaw   = atan2( m13, m33 )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pitch = -asin( m23 )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roll  = atan2( m21, m22 )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注意：atan2 / asin 算出来是弧度，乘 57.3 (≈180/π) 换算成角度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欧拉角的坑：万向锁（Gimbal Lock）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D5AFE"/>
                </a:solidFill>
                <a:latin typeface="Microsoft YaHei"/>
              </a:rPr>
              <a:t>欧拉角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D5AFE"/>
                </a:solidFill>
                <a:latin typeface="Microsoft YaHei"/>
              </a:rPr>
              <a:t>四元数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直观、好理解（yaw / pitch / roll）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表示</a:t>
            </a:r>
            <a:r>
              <a:rPr b="1" sz="1500">
                <a:solidFill>
                  <a:srgbClr val="202433"/>
                </a:solidFill>
                <a:latin typeface="Microsoft YaHei"/>
              </a:rPr>
              <a:t>不唯一</a:t>
            </a:r>
            <a:r>
              <a:rPr b="0" sz="1500">
                <a:solidFill>
                  <a:srgbClr val="202433"/>
                </a:solidFill>
                <a:latin typeface="Microsoft YaHei"/>
              </a:rPr>
              <a:t>：不同旋转顺序结果不同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特定姿态下会</a:t>
            </a:r>
            <a:r>
              <a:rPr b="1" sz="1500">
                <a:solidFill>
                  <a:srgbClr val="202433"/>
                </a:solidFill>
                <a:latin typeface="Microsoft YaHei"/>
              </a:rPr>
              <a:t>丢失一个自由度</a:t>
            </a:r>
            <a:r>
              <a:rPr b="0" sz="1500">
                <a:solidFill>
                  <a:srgbClr val="202433"/>
                </a:solidFill>
                <a:latin typeface="Microsoft YaHei"/>
              </a:rPr>
              <a:t>（万向锁）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4 个数 (w, x, y, z)，无奇异点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插值、连续旋转更稳健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不直观，本讲不展开推导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课后可用 </a:t>
            </a:r>
            <a:r>
              <a:rPr b="1" sz="1500">
                <a:solidFill>
                  <a:srgbClr val="202433"/>
                </a:solidFill>
                <a:latin typeface="Microsoft YaHei"/>
              </a:rPr>
              <a:t>quaternions.online</a:t>
            </a:r>
            <a:r>
              <a:rPr b="0" sz="1500">
                <a:solidFill>
                  <a:srgbClr val="202433"/>
                </a:solidFill>
                <a:latin typeface="Microsoft YaHei"/>
              </a:rPr>
              <a:t> 交互体验两者关系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动手实验二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Task 04~05：把旋转变成看得懂的角度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P5 动手实验二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P5 · 动手实验二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04 · 把 tvec / rvec 打印到画面上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现在 draw_text 只会打印 0.0，改写参数把真实解出来的值显示出来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26517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 Task 04 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现在，draw_text 只打印 0.0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请你改写下面 draw_text 的参数，把解得的 tvec 和 rvec 打印出来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tools::draw_text(img, fmt::format(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"tvec:  x{:.2f} y{:.2f} z{:.2f}",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tvec.at&lt;double&gt;(0), tvec.at&lt;double&gt;(1), tvec.at&lt;double&gt;(2)), ...);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tools::draw_text(img, fmt::format(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"rvec:  x{:.2f} y{:.2f} z{:.2f}",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rvec.at&lt;double&gt;(0), rvec.at&lt;double&gt;(1), rvec.at&lt;double&gt;(2)), ...);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7608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400">
                <a:solidFill>
                  <a:srgbClr val="5B6377"/>
                </a:solidFill>
                <a:latin typeface="Microsoft YaHei"/>
              </a:rPr>
              <a:t>· 提示：`tvec.at&lt;double&gt;(0)` 取出的是一个 double，即 tvec 的第一个元素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P5 动手实验二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P5 · 动手实验二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05 · rvec → rmat → 欧拉角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用 cv::Rodrigues 把 rvec 转成 rmat，再套用上一环节的反三角函数公式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2743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 Task 05 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使用 cv::Rodrigues，把 rvec 旋转向量转换为 rmat 旋转矩阵，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再用反三角函数把 rmat 中的元素转化为欧拉角，并显示在画面上。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cv::Mat rmat;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cv::Rodrigues(rvec, rmat);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tools::draw_text(img, fmt::format(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"euler angles:  yaw{:.2f} pitch{:.2f} roll{:.2f}",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yaw, pitch, roll), ...);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提示：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- cv::Mat 下标从 0 开始；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- 取元素方式和 tvec 类似，例如 rmat.at&lt;double&gt;(0, 2)。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P5 动手实验二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P5 · 动手实验二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现场演示 &amp; 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转动装甲板：画面上 yaw / pitch / roll 数值实时变化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邀请 1~2 位同学上台演示，说说自己观察到的变化规律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提问：把装甲板前后移动（不转动），tvec 和 rvec 分别会怎么变？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现场画面截图：
yaw/pitch/roll 数值叠加在图像上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P5 动手实验二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坐标系全景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从像素到机器人本体 / IMU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P6 坐标系全景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P6 · 坐标系全景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我真的对准了吗？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：与相机刚性连接的坐标系，随相机一起平移、旋转；原点 = 镜头光心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思考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：如果相机安装时有倾斜，并且和枪管不在同一个位置，会发生什么？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答案：仅靠“装甲板在相机坐标系下的位姿”还不够，还要知道相机相对枪管/机器人本体的安装关系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相机与枪管不共轴的实拍照片
（两套坐标轴叠加标注）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P6 坐标系全景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P6 · 坐标系全景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完整的坐标变换链条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像素坐标系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--（今天学的 solvePnP）--&gt;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相机坐标系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--（手眼标定，进阶内容）--&gt;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机器人本体坐标系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机器人本体坐标系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--（实际测量安装）--&gt;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IMU 坐标系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今天我们打通了第一环；手眼标定和运动预测（卡尔曼滤波）留给后续课程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实物机器人标注 imu / base_link /
camera 三套坐标轴的照片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P6 坐标系全景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总结与作业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回顾、答疑、布置任务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P7 总结与作业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P7 · 总结与作业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本讲回顾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800">
                <a:solidFill>
                  <a:srgbClr val="202433"/>
                </a:solidFill>
                <a:latin typeface="Microsoft YaHei"/>
              </a:rPr>
              <a:t>· 位姿 = </a:t>
            </a:r>
            <a:r>
              <a:rPr b="1" sz="1800">
                <a:solidFill>
                  <a:srgbClr val="3D5AFE"/>
                </a:solidFill>
                <a:latin typeface="Microsoft YaHei"/>
              </a:rPr>
              <a:t>位置（3D 向量）</a:t>
            </a:r>
            <a:r>
              <a:rPr b="0" sz="1800">
                <a:solidFill>
                  <a:srgbClr val="202433"/>
                </a:solidFill>
                <a:latin typeface="Microsoft YaHei"/>
              </a:rPr>
              <a:t> + </a:t>
            </a:r>
            <a:r>
              <a:rPr b="1" sz="1800">
                <a:solidFill>
                  <a:srgbClr val="3D5AFE"/>
                </a:solidFill>
                <a:latin typeface="Microsoft YaHei"/>
              </a:rPr>
              <a:t>朝向（旋转）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8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1800">
                <a:solidFill>
                  <a:srgbClr val="3D5AFE"/>
                </a:solidFill>
                <a:latin typeface="Microsoft YaHei"/>
              </a:rPr>
              <a:t>PnP 问题</a:t>
            </a:r>
            <a:r>
              <a:rPr b="0" sz="1800">
                <a:solidFill>
                  <a:srgbClr val="202433"/>
                </a:solidFill>
                <a:latin typeface="Microsoft YaHei"/>
              </a:rPr>
              <a:t>：n 组 3D-2D 对应点 + 相机内参 → 解出 R, t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8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1800">
                <a:solidFill>
                  <a:srgbClr val="3D5AFE"/>
                </a:solidFill>
                <a:latin typeface="Microsoft YaHei"/>
              </a:rPr>
              <a:t>cv::solvePnP</a:t>
            </a:r>
            <a:r>
              <a:rPr b="0" sz="1800">
                <a:solidFill>
                  <a:srgbClr val="202433"/>
                </a:solidFill>
                <a:latin typeface="Microsoft YaHei"/>
              </a:rPr>
              <a:t>：输入 4 类数据，输出 rvec / tvec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8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1800">
                <a:solidFill>
                  <a:srgbClr val="3D5AFE"/>
                </a:solidFill>
                <a:latin typeface="Microsoft YaHei"/>
              </a:rPr>
              <a:t>tvec</a:t>
            </a:r>
            <a:r>
              <a:rPr b="0" sz="1800">
                <a:solidFill>
                  <a:srgbClr val="202433"/>
                </a:solidFill>
                <a:latin typeface="Microsoft YaHei"/>
              </a:rPr>
              <a:t> = 装甲板原点在相机坐标系下的位置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8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1800">
                <a:solidFill>
                  <a:srgbClr val="3D5AFE"/>
                </a:solidFill>
                <a:latin typeface="Microsoft YaHei"/>
              </a:rPr>
              <a:t>rvec</a:t>
            </a:r>
            <a:r>
              <a:rPr b="0" sz="1800">
                <a:solidFill>
                  <a:srgbClr val="202433"/>
                </a:solidFill>
                <a:latin typeface="Microsoft YaHei"/>
              </a:rPr>
              <a:t> --Rodrigues--&gt; </a:t>
            </a:r>
            <a:r>
              <a:rPr b="1" sz="1800">
                <a:solidFill>
                  <a:srgbClr val="3D5AFE"/>
                </a:solidFill>
                <a:latin typeface="Microsoft YaHei"/>
              </a:rPr>
              <a:t>rmat</a:t>
            </a:r>
            <a:r>
              <a:rPr b="0" sz="1800">
                <a:solidFill>
                  <a:srgbClr val="202433"/>
                </a:solidFill>
                <a:latin typeface="Microsoft YaHei"/>
              </a:rPr>
              <a:t> --反三角函数--&gt; </a:t>
            </a:r>
            <a:r>
              <a:rPr b="1" sz="1800">
                <a:solidFill>
                  <a:srgbClr val="3D5AFE"/>
                </a:solidFill>
                <a:latin typeface="Microsoft YaHei"/>
              </a:rPr>
              <a:t>欧拉角</a:t>
            </a:r>
            <a:r>
              <a:rPr b="0" sz="1800">
                <a:solidFill>
                  <a:srgbClr val="202433"/>
                </a:solidFill>
                <a:latin typeface="Microsoft YaHei"/>
              </a:rPr>
              <a:t> / 四元数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800">
                <a:solidFill>
                  <a:srgbClr val="202433"/>
                </a:solidFill>
                <a:latin typeface="Microsoft YaHei"/>
              </a:rPr>
              <a:t>· 欧拉角存在</a:t>
            </a:r>
            <a:r>
              <a:rPr b="1" sz="1800">
                <a:solidFill>
                  <a:srgbClr val="3D5AFE"/>
                </a:solidFill>
                <a:latin typeface="Microsoft YaHei"/>
              </a:rPr>
              <a:t>万向锁</a:t>
            </a:r>
            <a:r>
              <a:rPr b="0" sz="1800">
                <a:solidFill>
                  <a:srgbClr val="202433"/>
                </a:solidFill>
                <a:latin typeface="Microsoft YaHei"/>
              </a:rPr>
              <a:t>问题，四元数更稳健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800">
                <a:solidFill>
                  <a:srgbClr val="202433"/>
                </a:solidFill>
                <a:latin typeface="Microsoft YaHei"/>
              </a:rPr>
              <a:t>· 完整链条：像素 → 相机（solvePnP）→ 机器人本体（手眼标定）→ IMU（安装测量）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P7 总结与作业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P7 · 总结与作业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①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必做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：完成 Task 01~05（课上未完成的部分），跑通并正确显示 tvec / rvec / yaw / pitch / roll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②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进阶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：把 solvePnP 接入上节课自己写的 Camera + Detector 类，实时显示真实摄像头画面中装甲板的位姿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③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思考题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：什么姿态下欧拉角会出现万向锁？用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quaternions.online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验证你的猜想，下节课抽查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P7 总结与作业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3F5F9"/>
                </a:solidFill>
                <a:latin typeface="Microsoft YaHei"/>
              </a:rPr>
              <a:t>Thanks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9B4C9"/>
                </a:solidFill>
                <a:latin typeface="Microsoft YaHei"/>
              </a:rPr>
              <a:t>下一讲预告：相机 - 云台手眼标定 与 装甲板运动预测（卡尔曼滤波）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