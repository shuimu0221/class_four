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411f302cf494075" /><Relationship Type="http://schemas.openxmlformats.org/officeDocument/2006/relationships/extended-properties" Target="/docProps/app.xml" Id="Rf6ddef9f196343fa" /><Relationship Type="http://schemas.openxmlformats.org/officeDocument/2006/relationships/officeDocument" Target="/ppt/presentation.xml" Id="R6d32498dfefb486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404e08c6f1c4289"/>
  </p:sldMasterIdLst>
  <p:notesMasterIdLst>
    <p:notesMasterId xmlns:r="http://schemas.openxmlformats.org/officeDocument/2006/relationships" r:id="Rf03af5aef8f742e9"/>
  </p:notesMasterIdLst>
  <p:sldIdLst>
    <p:sldId xmlns:r="http://schemas.openxmlformats.org/officeDocument/2006/relationships" id="256" r:id="R5996ab67b8fa4726"/>
    <p:sldId xmlns:r="http://schemas.openxmlformats.org/officeDocument/2006/relationships" id="257" r:id="R25f37117bdc34548"/>
    <p:sldId xmlns:r="http://schemas.openxmlformats.org/officeDocument/2006/relationships" id="258" r:id="R89895affe70047f0"/>
    <p:sldId xmlns:r="http://schemas.openxmlformats.org/officeDocument/2006/relationships" id="259" r:id="Rdfe3ddac1de148db"/>
    <p:sldId xmlns:r="http://schemas.openxmlformats.org/officeDocument/2006/relationships" id="260" r:id="Rf30187bf6eba4506"/>
    <p:sldId xmlns:r="http://schemas.openxmlformats.org/officeDocument/2006/relationships" id="261" r:id="R02a1f7252a4f4b0e"/>
    <p:sldId xmlns:r="http://schemas.openxmlformats.org/officeDocument/2006/relationships" id="262" r:id="Rb20d11b559f547c8"/>
    <p:sldId xmlns:r="http://schemas.openxmlformats.org/officeDocument/2006/relationships" id="263" r:id="R8bab04d8dc3542ef"/>
    <p:sldId xmlns:r="http://schemas.openxmlformats.org/officeDocument/2006/relationships" id="264" r:id="R0aa726acf2f140b3"/>
    <p:sldId xmlns:r="http://schemas.openxmlformats.org/officeDocument/2006/relationships" id="265" r:id="R3c7716d54b8b4584"/>
    <p:sldId xmlns:r="http://schemas.openxmlformats.org/officeDocument/2006/relationships" id="266" r:id="R99e73662511d426f"/>
    <p:sldId xmlns:r="http://schemas.openxmlformats.org/officeDocument/2006/relationships" id="267" r:id="R3a37808d42c44ae4"/>
    <p:sldId xmlns:r="http://schemas.openxmlformats.org/officeDocument/2006/relationships" id="268" r:id="R12be9929d9564ba3"/>
    <p:sldId xmlns:r="http://schemas.openxmlformats.org/officeDocument/2006/relationships" id="269" r:id="R834f34a703774df1"/>
    <p:sldId xmlns:r="http://schemas.openxmlformats.org/officeDocument/2006/relationships" id="270" r:id="Rad2c25656d4c4a36"/>
    <p:sldId xmlns:r="http://schemas.openxmlformats.org/officeDocument/2006/relationships" id="271" r:id="R6a6e109a53fe47d4"/>
    <p:sldId xmlns:r="http://schemas.openxmlformats.org/officeDocument/2006/relationships" id="272" r:id="R71dc395365ca4427"/>
    <p:sldId xmlns:r="http://schemas.openxmlformats.org/officeDocument/2006/relationships" id="273" r:id="R302ff5c4032e4763"/>
    <p:sldId xmlns:r="http://schemas.openxmlformats.org/officeDocument/2006/relationships" id="274" r:id="Rdd3fb667b89c4b43"/>
    <p:sldId xmlns:r="http://schemas.openxmlformats.org/officeDocument/2006/relationships" id="275" r:id="R7540c62018154c3f"/>
    <p:sldId xmlns:r="http://schemas.openxmlformats.org/officeDocument/2006/relationships" id="276" r:id="R7c5ea3cc94154b76"/>
    <p:sldId xmlns:r="http://schemas.openxmlformats.org/officeDocument/2006/relationships" id="277" r:id="R752a70d883eb493d"/>
    <p:sldId xmlns:r="http://schemas.openxmlformats.org/officeDocument/2006/relationships" id="278" r:id="R742470ca28bd41df"/>
    <p:sldId xmlns:r="http://schemas.openxmlformats.org/officeDocument/2006/relationships" id="279" r:id="R1c83415146114283"/>
    <p:sldId xmlns:r="http://schemas.openxmlformats.org/officeDocument/2006/relationships" id="280" r:id="Rc82741fb1af94a39"/>
    <p:sldId xmlns:r="http://schemas.openxmlformats.org/officeDocument/2006/relationships" id="281" r:id="R30ffe589dbad4d34"/>
    <p:sldId xmlns:r="http://schemas.openxmlformats.org/officeDocument/2006/relationships" id="282" r:id="R32d9295328fc45d3"/>
    <p:sldId xmlns:r="http://schemas.openxmlformats.org/officeDocument/2006/relationships" id="283" r:id="Rcf4c1ed3fd134a23"/>
    <p:sldId xmlns:r="http://schemas.openxmlformats.org/officeDocument/2006/relationships" id="284" r:id="R1cda9eb8332b4764"/>
    <p:sldId xmlns:r="http://schemas.openxmlformats.org/officeDocument/2006/relationships" id="285" r:id="R159d8f11738d4e6d"/>
    <p:sldId xmlns:r="http://schemas.openxmlformats.org/officeDocument/2006/relationships" id="286" r:id="R0c4a52270a644fdd"/>
    <p:sldId xmlns:r="http://schemas.openxmlformats.org/officeDocument/2006/relationships" id="287" r:id="R256279ef46a34545"/>
    <p:sldId xmlns:r="http://schemas.openxmlformats.org/officeDocument/2006/relationships" id="288" r:id="R30a4b2724d8747de"/>
    <p:sldId xmlns:r="http://schemas.openxmlformats.org/officeDocument/2006/relationships" id="289" r:id="Rc026d475e33145cc"/>
    <p:sldId xmlns:r="http://schemas.openxmlformats.org/officeDocument/2006/relationships" id="290" r:id="Raef5033f9b954abf"/>
    <p:sldId xmlns:r="http://schemas.openxmlformats.org/officeDocument/2006/relationships" id="291" r:id="Rd9a6ba0ab61842fd"/>
    <p:sldId xmlns:r="http://schemas.openxmlformats.org/officeDocument/2006/relationships" id="292" r:id="Re0e2215347134281"/>
  </p:sldIdLst>
  <p:sldSz cx="12191695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2fb39ff13094216" /><Relationship Type="http://schemas.openxmlformats.org/officeDocument/2006/relationships/slideMaster" Target="/ppt/slideMasters/slideMaster1.xml" Id="R5404e08c6f1c4289" /><Relationship Type="http://schemas.openxmlformats.org/officeDocument/2006/relationships/notesMaster" Target="/ppt/notesMasters/notesMaster1.xml" Id="Rf03af5aef8f742e9" /><Relationship Type="http://schemas.openxmlformats.org/officeDocument/2006/relationships/presProps" Target="/ppt/presProps.xml" Id="R4b1642e3d28f4e56" /><Relationship Type="http://schemas.openxmlformats.org/officeDocument/2006/relationships/viewProps" Target="/ppt/viewProps.xml" Id="R260f3ea700a3408a" /><Relationship Type="http://schemas.openxmlformats.org/officeDocument/2006/relationships/tableStyles" Target="/ppt/tableStyles.xml" Id="R8e125bb1803c4e47" /><Relationship Type="http://schemas.openxmlformats.org/officeDocument/2006/relationships/slide" Target="/ppt/slides/slide1.xml" Id="R5996ab67b8fa4726" /><Relationship Type="http://schemas.openxmlformats.org/officeDocument/2006/relationships/slide" Target="/ppt/slides/slide2.xml" Id="R25f37117bdc34548" /><Relationship Type="http://schemas.openxmlformats.org/officeDocument/2006/relationships/slide" Target="/ppt/slides/slide3.xml" Id="R89895affe70047f0" /><Relationship Type="http://schemas.openxmlformats.org/officeDocument/2006/relationships/slide" Target="/ppt/slides/slide4.xml" Id="Rdfe3ddac1de148db" /><Relationship Type="http://schemas.openxmlformats.org/officeDocument/2006/relationships/slide" Target="/ppt/slides/slide5.xml" Id="Rf30187bf6eba4506" /><Relationship Type="http://schemas.openxmlformats.org/officeDocument/2006/relationships/slide" Target="/ppt/slides/slide6.xml" Id="R02a1f7252a4f4b0e" /><Relationship Type="http://schemas.openxmlformats.org/officeDocument/2006/relationships/slide" Target="/ppt/slides/slide7.xml" Id="Rb20d11b559f547c8" /><Relationship Type="http://schemas.openxmlformats.org/officeDocument/2006/relationships/slide" Target="/ppt/slides/slide8.xml" Id="R8bab04d8dc3542ef" /><Relationship Type="http://schemas.openxmlformats.org/officeDocument/2006/relationships/slide" Target="/ppt/slides/slide9.xml" Id="R0aa726acf2f140b3" /><Relationship Type="http://schemas.openxmlformats.org/officeDocument/2006/relationships/slide" Target="/ppt/slides/slide10.xml" Id="R3c7716d54b8b4584" /><Relationship Type="http://schemas.openxmlformats.org/officeDocument/2006/relationships/slide" Target="/ppt/slides/slide11.xml" Id="R99e73662511d426f" /><Relationship Type="http://schemas.openxmlformats.org/officeDocument/2006/relationships/slide" Target="/ppt/slides/slide12.xml" Id="R3a37808d42c44ae4" /><Relationship Type="http://schemas.openxmlformats.org/officeDocument/2006/relationships/slide" Target="/ppt/slides/slide13.xml" Id="R12be9929d9564ba3" /><Relationship Type="http://schemas.openxmlformats.org/officeDocument/2006/relationships/slide" Target="/ppt/slides/slide14.xml" Id="R834f34a703774df1" /><Relationship Type="http://schemas.openxmlformats.org/officeDocument/2006/relationships/slide" Target="/ppt/slides/slide15.xml" Id="Rad2c25656d4c4a36" /><Relationship Type="http://schemas.openxmlformats.org/officeDocument/2006/relationships/slide" Target="/ppt/slides/slide16.xml" Id="R6a6e109a53fe47d4" /><Relationship Type="http://schemas.openxmlformats.org/officeDocument/2006/relationships/slide" Target="/ppt/slides/slide17.xml" Id="R71dc395365ca4427" /><Relationship Type="http://schemas.openxmlformats.org/officeDocument/2006/relationships/slide" Target="/ppt/slides/slide18.xml" Id="R302ff5c4032e4763" /><Relationship Type="http://schemas.openxmlformats.org/officeDocument/2006/relationships/slide" Target="/ppt/slides/slide19.xml" Id="Rdd3fb667b89c4b43" /><Relationship Type="http://schemas.openxmlformats.org/officeDocument/2006/relationships/slide" Target="/ppt/slides/slide20.xml" Id="R7540c62018154c3f" /><Relationship Type="http://schemas.openxmlformats.org/officeDocument/2006/relationships/slide" Target="/ppt/slides/slide21.xml" Id="R7c5ea3cc94154b76" /><Relationship Type="http://schemas.openxmlformats.org/officeDocument/2006/relationships/slide" Target="/ppt/slides/slide22.xml" Id="R752a70d883eb493d" /><Relationship Type="http://schemas.openxmlformats.org/officeDocument/2006/relationships/slide" Target="/ppt/slides/slide23.xml" Id="R742470ca28bd41df" /><Relationship Type="http://schemas.openxmlformats.org/officeDocument/2006/relationships/slide" Target="/ppt/slides/slide24.xml" Id="R1c83415146114283" /><Relationship Type="http://schemas.openxmlformats.org/officeDocument/2006/relationships/slide" Target="/ppt/slides/slide25.xml" Id="Rc82741fb1af94a39" /><Relationship Type="http://schemas.openxmlformats.org/officeDocument/2006/relationships/slide" Target="/ppt/slides/slide26.xml" Id="R30ffe589dbad4d34" /><Relationship Type="http://schemas.openxmlformats.org/officeDocument/2006/relationships/slide" Target="/ppt/slides/slide27.xml" Id="R32d9295328fc45d3" /><Relationship Type="http://schemas.openxmlformats.org/officeDocument/2006/relationships/slide" Target="/ppt/slides/slide28.xml" Id="Rcf4c1ed3fd134a23" /><Relationship Type="http://schemas.openxmlformats.org/officeDocument/2006/relationships/slide" Target="/ppt/slides/slide29.xml" Id="R1cda9eb8332b4764" /><Relationship Type="http://schemas.openxmlformats.org/officeDocument/2006/relationships/slide" Target="/ppt/slides/slide30.xml" Id="R159d8f11738d4e6d" /><Relationship Type="http://schemas.openxmlformats.org/officeDocument/2006/relationships/slide" Target="/ppt/slides/slide31.xml" Id="R0c4a52270a644fdd" /><Relationship Type="http://schemas.openxmlformats.org/officeDocument/2006/relationships/slide" Target="/ppt/slides/slide32.xml" Id="R256279ef46a34545" /><Relationship Type="http://schemas.openxmlformats.org/officeDocument/2006/relationships/slide" Target="/ppt/slides/slide33.xml" Id="R30a4b2724d8747de" /><Relationship Type="http://schemas.openxmlformats.org/officeDocument/2006/relationships/slide" Target="/ppt/slides/slide34.xml" Id="Rc026d475e33145cc" /><Relationship Type="http://schemas.openxmlformats.org/officeDocument/2006/relationships/slide" Target="/ppt/slides/slide35.xml" Id="Raef5033f9b954abf" /><Relationship Type="http://schemas.openxmlformats.org/officeDocument/2006/relationships/slide" Target="/ppt/slides/slide36.xml" Id="Rd9a6ba0ab61842fd" /><Relationship Type="http://schemas.openxmlformats.org/officeDocument/2006/relationships/slide" Target="/ppt/slides/slide37.xml" Id="Re0e221534713428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3401cb69f3346f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ae530f6cbee4a9e" /><Relationship Type="http://schemas.openxmlformats.org/officeDocument/2006/relationships/notesMaster" Target="/ppt/notesMasters/notesMaster1.xml" Id="Rfc8e3cd0b6aa428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79bf39dfb6945ae" /><Relationship Type="http://schemas.openxmlformats.org/officeDocument/2006/relationships/notesMaster" Target="/ppt/notesMasters/notesMaster1.xml" Id="R67821861c474479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1ec2c7fd4a14217" /><Relationship Type="http://schemas.openxmlformats.org/officeDocument/2006/relationships/notesMaster" Target="/ppt/notesMasters/notesMaster1.xml" Id="R81f7891574a8416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38bdea797cd479f" /><Relationship Type="http://schemas.openxmlformats.org/officeDocument/2006/relationships/notesMaster" Target="/ppt/notesMasters/notesMaster1.xml" Id="R7c1f304ad099468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8a3dd06e1e34d05" /><Relationship Type="http://schemas.openxmlformats.org/officeDocument/2006/relationships/notesMaster" Target="/ppt/notesMasters/notesMaster1.xml" Id="R5445044716e843b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3393f74dd1f4b82" /><Relationship Type="http://schemas.openxmlformats.org/officeDocument/2006/relationships/notesMaster" Target="/ppt/notesMasters/notesMaster1.xml" Id="R4958e01f49c3486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4a066d437984718" /><Relationship Type="http://schemas.openxmlformats.org/officeDocument/2006/relationships/notesMaster" Target="/ppt/notesMasters/notesMaster1.xml" Id="R70095cf59578400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e4effb0f64a4471" /><Relationship Type="http://schemas.openxmlformats.org/officeDocument/2006/relationships/notesMaster" Target="/ppt/notesMasters/notesMaster1.xml" Id="R7a117e22306e4a3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1ba373d7fe740f3" /><Relationship Type="http://schemas.openxmlformats.org/officeDocument/2006/relationships/notesMaster" Target="/ppt/notesMasters/notesMaster1.xml" Id="R9b3c7da2dc85462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99854bc4aa94da4" /><Relationship Type="http://schemas.openxmlformats.org/officeDocument/2006/relationships/notesMaster" Target="/ppt/notesMasters/notesMaster1.xml" Id="R90cdf3ac172b433e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a4944c3a350e453b" /><Relationship Type="http://schemas.openxmlformats.org/officeDocument/2006/relationships/notesMaster" Target="/ppt/notesMasters/notesMaster1.xml" Id="R97a3355529a44bc3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f2138303fc154a4c" /><Relationship Type="http://schemas.openxmlformats.org/officeDocument/2006/relationships/notesMaster" Target="/ppt/notesMasters/notesMaster1.xml" Id="R06f7c217d5c8402d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4ebdef90324f4b7f" /><Relationship Type="http://schemas.openxmlformats.org/officeDocument/2006/relationships/notesMaster" Target="/ppt/notesMasters/notesMaster1.xml" Id="R7e7dff52533046f0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08068f07b16f4b39" /><Relationship Type="http://schemas.openxmlformats.org/officeDocument/2006/relationships/notesMaster" Target="/ppt/notesMasters/notesMaster1.xml" Id="Rc230b835c9c74c5b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2bd1c6af408e4c17" /><Relationship Type="http://schemas.openxmlformats.org/officeDocument/2006/relationships/notesMaster" Target="/ppt/notesMasters/notesMaster1.xml" Id="R8bac80d894ae46b1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d8c7f38bf9dd41de" /><Relationship Type="http://schemas.openxmlformats.org/officeDocument/2006/relationships/notesMaster" Target="/ppt/notesMasters/notesMaster1.xml" Id="R8305abe342c848b3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8daab342043843ca" /><Relationship Type="http://schemas.openxmlformats.org/officeDocument/2006/relationships/notesMaster" Target="/ppt/notesMasters/notesMaster1.xml" Id="Rbffa5c64f9bd4860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7b35684b972b4606" /><Relationship Type="http://schemas.openxmlformats.org/officeDocument/2006/relationships/notesMaster" Target="/ppt/notesMasters/notesMaster1.xml" Id="Rd64e9c47739e44cd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f69018ee1d4449cd" /><Relationship Type="http://schemas.openxmlformats.org/officeDocument/2006/relationships/notesMaster" Target="/ppt/notesMasters/notesMaster1.xml" Id="R80226a60b6a8442f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38c043f2a7194395" /><Relationship Type="http://schemas.openxmlformats.org/officeDocument/2006/relationships/notesMaster" Target="/ppt/notesMasters/notesMaster1.xml" Id="Reb382d018c964681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449e760d8b96442b" /><Relationship Type="http://schemas.openxmlformats.org/officeDocument/2006/relationships/notesMaster" Target="/ppt/notesMasters/notesMaster1.xml" Id="R93fedd162cf84e18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a0a17b70b03d4aff" /><Relationship Type="http://schemas.openxmlformats.org/officeDocument/2006/relationships/notesMaster" Target="/ppt/notesMasters/notesMaster1.xml" Id="R8ea429199d3845a5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a13a30f97ead48d2" /><Relationship Type="http://schemas.openxmlformats.org/officeDocument/2006/relationships/notesMaster" Target="/ppt/notesMasters/notesMaster1.xml" Id="Rbf900b2c983e458a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11b488030fc74bc8" /><Relationship Type="http://schemas.openxmlformats.org/officeDocument/2006/relationships/notesMaster" Target="/ppt/notesMasters/notesMaster1.xml" Id="Rbc2789f69cd54f35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851ce1e5dfbe4f79" /><Relationship Type="http://schemas.openxmlformats.org/officeDocument/2006/relationships/notesMaster" Target="/ppt/notesMasters/notesMaster1.xml" Id="R9dc9f449923a458a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3aea008b7e5245f8" /><Relationship Type="http://schemas.openxmlformats.org/officeDocument/2006/relationships/notesMaster" Target="/ppt/notesMasters/notesMaster1.xml" Id="Rafa336478e8a4dcd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372360b30a5743a8" /><Relationship Type="http://schemas.openxmlformats.org/officeDocument/2006/relationships/notesMaster" Target="/ppt/notesMasters/notesMaster1.xml" Id="R9a58cde627c3469e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93cb62c23e9b4f53" /><Relationship Type="http://schemas.openxmlformats.org/officeDocument/2006/relationships/notesMaster" Target="/ppt/notesMasters/notesMaster1.xml" Id="R77faa6776a0a4c0c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84a31d5bc6d94703" /><Relationship Type="http://schemas.openxmlformats.org/officeDocument/2006/relationships/notesMaster" Target="/ppt/notesMasters/notesMaster1.xml" Id="R050541909f8c4a32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e19acdd15ece44d3" /><Relationship Type="http://schemas.openxmlformats.org/officeDocument/2006/relationships/notesMaster" Target="/ppt/notesMasters/notesMaster1.xml" Id="R11289718efb74d47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6240525c095848cf" /><Relationship Type="http://schemas.openxmlformats.org/officeDocument/2006/relationships/notesMaster" Target="/ppt/notesMasters/notesMaster1.xml" Id="R39da504b36fd4820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d97d0dce2d5f455b" /><Relationship Type="http://schemas.openxmlformats.org/officeDocument/2006/relationships/notesMaster" Target="/ppt/notesMasters/notesMaster1.xml" Id="Rdcc8b81befed429e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b1ac6dc30dc048f0" /><Relationship Type="http://schemas.openxmlformats.org/officeDocument/2006/relationships/notesMaster" Target="/ppt/notesMasters/notesMaster1.xml" Id="R9a7aed363fb3462c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88750b1bd98b414b" /><Relationship Type="http://schemas.openxmlformats.org/officeDocument/2006/relationships/notesMaster" Target="/ppt/notesMasters/notesMaster1.xml" Id="R8f76c408e9894a71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b41d884b64244c58" /><Relationship Type="http://schemas.openxmlformats.org/officeDocument/2006/relationships/notesMaster" Target="/ppt/notesMasters/notesMaster1.xml" Id="Rc3867ea6108c4fc1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e64c2f9995c5409f" /><Relationship Type="http://schemas.openxmlformats.org/officeDocument/2006/relationships/notesMaster" Target="/ppt/notesMasters/notesMaster1.xml" Id="R551b4c48ac1d4c5c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a7fd8f79db8f448d" /><Relationship Type="http://schemas.openxmlformats.org/officeDocument/2006/relationships/notesMaster" Target="/ppt/notesMasters/notesMaster1.xml" Id="R151dccb814ec458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49a2fd942b3430d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9f69aacbef443e5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5791d5c132f4892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a72b3cf9fff4175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e408dca10b04eab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cfe13403e654ab3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49c68bada244ed1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94caf0cf48f4451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f7f6af2aa724a49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cdfe23a69c34b37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0b38ba52b294a24" /></Relationships>
</file>

<file path=ppt/slideLayouts/slideLayout1.xml><?xml version="1.0" encoding="utf-8"?>
<p:sldLayout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EC01E80B-5B50-4C60-BE3F-8EAE67E3697C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3FCD65DA-A262-4290-A127-05F48DF75853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r>
              <a:t>Click to edit Master subtitle style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6F0389A3-7A42-4D84-9AAE-69FE89C1E8F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286581A-6B5F-408D-9715-85639E7DCA5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5A6E9B54-5F43-49A1-887E-4B4BF6B8379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02E71C0B-A77B-467F-BED2-AA953DD968B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01B7996C-2119-4BD7-B1E7-C7B3CAD8A43C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194AC63A-720F-4174-9C71-09890322683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95A09528-5448-4B7D-959F-4E194EEE82E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CA4E86AE-1EF0-482C-B952-8D1260E967F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2D0B97C2-A56C-46ED-8715-640260DA7EA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2313" y="4406900"/>
            <a:ext cx="7772400" cy="1362075"/>
          </a:xfrm>
        </p:spPr>
        <p:txBody>
          <a:bodyPr xmlns:a="http://schemas.openxmlformats.org/drawingml/2006/main" anchor="t"/>
          <a:lstStyle xmlns:a="http://schemas.openxmlformats.org/drawingml/2006/main">
            <a:lvl1pPr algn="l">
              <a:buNone/>
              <a:defRPr sz="4000" b="1" cap="all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C993BD6C-4567-4936-B443-18E0EFB09AF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22313" y="2906713"/>
            <a:ext cx="7772400" cy="1500187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BD812004-1DF1-4507-A065-0DB1F38998A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788A35C3-D272-466D-ACF0-EA35239B0A3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BBE63292-A5ED-46C8-A498-C2A534BB99E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E40EEAA6-1E9B-4DBF-892C-CCADAB1E096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704D8798-5198-461C-B6CC-5A099FBD9B2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457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D1E3F3AF-4033-4056-8FE6-9BC7A97E4230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648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8EE60E55-8831-471B-BC58-C6772204335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DF4F2568-8C5C-4C27-B119-927502C5C7A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1A27FDA6-DCDA-4E60-BA2C-19593136A46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D7C732E5-9350-4C30-B815-53840F0EEF6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64F44F40-5FF5-4873-810E-03F8B1BF7BB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535113"/>
            <a:ext cx="4040188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FECF128C-7CC2-42A2-BC13-B0AA0338CA6B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57200" y="2174875"/>
            <a:ext cx="4040188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5206B019-9146-4757-99CB-3C923109DA36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4645025" y="1535113"/>
            <a:ext cx="4041775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463DEEAC-1355-44D2-9696-3C3436B757A0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4645025" y="2174875"/>
            <a:ext cx="4041775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7" name="Date Placeholder 6">
            <a:extLst xmlns:a="http://schemas.openxmlformats.org/drawingml/2006/main">
              <a:ext uri="{FF2B5EF4-FFF2-40B4-BE49-F238E27FC236}">
                <a16:creationId xmlns:a16="http://schemas.microsoft.com/office/drawing/2014/main" id="{5B94311B-8BDF-47B4-9618-521A026DF6E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8" name="Footer Placeholder 7">
            <a:extLst xmlns:a="http://schemas.openxmlformats.org/drawingml/2006/main">
              <a:ext uri="{FF2B5EF4-FFF2-40B4-BE49-F238E27FC236}">
                <a16:creationId xmlns:a16="http://schemas.microsoft.com/office/drawing/2014/main" id="{84461192-C9B0-431F-8332-972029FFF77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DD789D2D-801E-4F87-A19C-A27E8F1A138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F7BA4D63-7D2F-4216-91FA-2BF7B658F4C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5FBBE4BF-152A-487C-B71C-EF845357488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6B876C06-1F8C-4C43-B78B-5446FD537F2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FA77C928-F86B-4578-A629-B3AE71F459E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E9E22F6C-0095-4330-A1A3-90B04B7682F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AC08A235-2A43-41A8-B0DE-76EEDFD4D53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351CB225-D70F-494F-A1CB-2D14189839B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01CD3D2D-AE5A-44CD-8E6C-C19C6919ACA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3050"/>
            <a:ext cx="3008313" cy="1162050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0996EB90-F581-4F00-80D3-99C0AF18A3BD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575050" y="273050"/>
            <a:ext cx="5111750" cy="585311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C63AF904-8BFB-4C6B-B5A8-7E933F28720F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57200" y="1435100"/>
            <a:ext cx="3008313" cy="4691063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1F43F4CC-0B78-47F0-BBF2-3E275E0E7FB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44E7AD9C-04CE-4A91-B77E-7409049A621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764356AA-B30D-4572-9877-BC9429E055F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258C56EF-7A0E-48F2-9FC8-0C67B7854B4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792288" y="4800600"/>
            <a:ext cx="5486400" cy="566738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ECCAEB23-AD49-48B5-9638-ADBAAD3A411D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1792288" y="612775"/>
            <a:ext cx="5486400" cy="4114800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91BA0969-8BA0-4C2D-8672-4EFD3CABE15B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1792288" y="5367338"/>
            <a:ext cx="5486400" cy="804862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A0C861F0-E951-49A8-AA3C-1A43BDCD61D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6E05961C-89D7-488D-B6B3-0689AB2F5A0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C1DC8107-8188-4E9B-8379-8955AEB33FC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C5087D4-521E-4FA1-9297-1C45C6BA1F3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0C98E9BE-6CB3-4EED-A3E3-C886920837C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37010541-AE4F-4A51-BD3F-A98B0E23E9E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A0564BC8-4175-4553-8ED6-59806BC85FB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DC3BB7F7-B241-44EB-A6F9-27FC0AE6FF3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DDC663D8-8F45-4D83-8527-FDCCF089311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629400" y="274638"/>
            <a:ext cx="20574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4D2E4077-479A-4C3A-8535-8F8EE69E8EA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274638"/>
            <a:ext cx="60198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7909879E-C749-4556-B709-3E64285B954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E42EB45-A4E8-4D39-B87C-AD3B4C0D4B5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576C5DAD-3CE8-4549-8E70-27D20363020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3a9a072f3f7489f" /><Relationship Type="http://schemas.openxmlformats.org/officeDocument/2006/relationships/slideLayout" Target="/ppt/slideLayouts/slideLayout1.xml" Id="R33ba003db9f54d2f" /><Relationship Type="http://schemas.openxmlformats.org/officeDocument/2006/relationships/slideLayout" Target="/ppt/slideLayouts/slideLayout2.xml" Id="Rd7b92d526fd34cb8" /><Relationship Type="http://schemas.openxmlformats.org/officeDocument/2006/relationships/slideLayout" Target="/ppt/slideLayouts/slideLayout3.xml" Id="R89ba7270259e4b13" /><Relationship Type="http://schemas.openxmlformats.org/officeDocument/2006/relationships/slideLayout" Target="/ppt/slideLayouts/slideLayout4.xml" Id="Ra09f583b72344724" /><Relationship Type="http://schemas.openxmlformats.org/officeDocument/2006/relationships/slideLayout" Target="/ppt/slideLayouts/slideLayout5.xml" Id="R323cf62e0d574f51" /><Relationship Type="http://schemas.openxmlformats.org/officeDocument/2006/relationships/slideLayout" Target="/ppt/slideLayouts/slideLayout6.xml" Id="R9f4950c5b2e24cbb" /><Relationship Type="http://schemas.openxmlformats.org/officeDocument/2006/relationships/slideLayout" Target="/ppt/slideLayouts/slideLayout7.xml" Id="R6d1a3f8ea45c4408" /><Relationship Type="http://schemas.openxmlformats.org/officeDocument/2006/relationships/slideLayout" Target="/ppt/slideLayouts/slideLayout8.xml" Id="Rc1b9da1510fe4a68" /><Relationship Type="http://schemas.openxmlformats.org/officeDocument/2006/relationships/slideLayout" Target="/ppt/slideLayouts/slideLayout9.xml" Id="R980edafc046e4631" /><Relationship Type="http://schemas.openxmlformats.org/officeDocument/2006/relationships/slideLayout" Target="/ppt/slideLayouts/slideLayout10.xml" Id="R23773b4459b7412e" /><Relationship Type="http://schemas.openxmlformats.org/officeDocument/2006/relationships/slideLayout" Target="/ppt/slideLayouts/slideLayout11.xml" Id="Reeba199c6bf943ad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08142819-5C43-4657-945E-30EB314D01B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4638"/>
            <a:ext cx="8229600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33EA3B6D-DE42-4689-91AD-68ADC38854F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600200"/>
            <a:ext cx="8229600" cy="45259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BB352E4B-3C3B-40A5-85A2-D35940CDAF39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457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44872F9C-8E78-4356-AA21-4CF356D986E0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124200" y="6356350"/>
            <a:ext cx="2895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1F2A11D-8B68-447A-82CC-E17F5DE25D68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6553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3ba003db9f54d2f"/>
    <p:sldLayoutId xmlns:r="http://schemas.openxmlformats.org/officeDocument/2006/relationships" id="2147483650" r:id="Rd7b92d526fd34cb8"/>
    <p:sldLayoutId xmlns:r="http://schemas.openxmlformats.org/officeDocument/2006/relationships" id="2147483651" r:id="R89ba7270259e4b13"/>
    <p:sldLayoutId xmlns:r="http://schemas.openxmlformats.org/officeDocument/2006/relationships" id="2147483652" r:id="Ra09f583b72344724"/>
    <p:sldLayoutId xmlns:r="http://schemas.openxmlformats.org/officeDocument/2006/relationships" id="2147483653" r:id="R323cf62e0d574f51"/>
    <p:sldLayoutId xmlns:r="http://schemas.openxmlformats.org/officeDocument/2006/relationships" id="2147483654" r:id="R9f4950c5b2e24cbb"/>
    <p:sldLayoutId xmlns:r="http://schemas.openxmlformats.org/officeDocument/2006/relationships" id="2147483655" r:id="R6d1a3f8ea45c4408"/>
    <p:sldLayoutId xmlns:r="http://schemas.openxmlformats.org/officeDocument/2006/relationships" id="2147483656" r:id="Rc1b9da1510fe4a68"/>
    <p:sldLayoutId xmlns:r="http://schemas.openxmlformats.org/officeDocument/2006/relationships" id="2147483657" r:id="R980edafc046e4631"/>
    <p:sldLayoutId xmlns:r="http://schemas.openxmlformats.org/officeDocument/2006/relationships" id="2147483658" r:id="R23773b4459b7412e"/>
    <p:sldLayoutId xmlns:r="http://schemas.openxmlformats.org/officeDocument/2006/relationships" id="2147483659" r:id="Reeba199c6bf943ad"/>
  </p:sldLayoutIdLst>
  <p:txStyles>
    <p:titleStyle>
      <a:lvl1pPr xmlns:a="http://schemas.openxmlformats.org/drawingml/2006/main" algn="ctr" defTabSz="4572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4572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4572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4572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4572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4572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0e3da6c2e0644dd9" /><Relationship Type="http://schemas.openxmlformats.org/officeDocument/2006/relationships/notesSlide" Target="/ppt/notesSlides/notesSlide1.xml" Id="R235be815f4fd48c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ec4be23a2b4e4f1f" /><Relationship Type="http://schemas.openxmlformats.org/officeDocument/2006/relationships/notesSlide" Target="/ppt/notesSlides/notesSlide2.xml" Id="R7430b608e1bc436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fb4ac826cd8f4fc3" /><Relationship Type="http://schemas.openxmlformats.org/officeDocument/2006/relationships/notesSlide" Target="/ppt/notesSlides/notesSlide3.xml" Id="Ra36af2ea32e7430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b444d0f706e74456" /><Relationship Type="http://schemas.openxmlformats.org/officeDocument/2006/relationships/notesSlide" Target="/ppt/notesSlides/notesSlide4.xml" Id="Racd4b3ddf98a4de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a266a6da0f494440" /><Relationship Type="http://schemas.openxmlformats.org/officeDocument/2006/relationships/notesSlide" Target="/ppt/notesSlides/notesSlide5.xml" Id="R5016480d185d48d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68ca6b89413b4d6d" /><Relationship Type="http://schemas.openxmlformats.org/officeDocument/2006/relationships/notesSlide" Target="/ppt/notesSlides/notesSlide6.xml" Id="Rca32a9aaf5ca403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93c3d1fe419b4800" /><Relationship Type="http://schemas.openxmlformats.org/officeDocument/2006/relationships/notesSlide" Target="/ppt/notesSlides/notesSlide7.xml" Id="Ra2dcee564cfc4dd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c13c6f0cb78f4f7c" /><Relationship Type="http://schemas.openxmlformats.org/officeDocument/2006/relationships/notesSlide" Target="/ppt/notesSlides/notesSlide8.xml" Id="Rb02b6f86f679405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0ae20b7eb61345c8" /><Relationship Type="http://schemas.openxmlformats.org/officeDocument/2006/relationships/notesSlide" Target="/ppt/notesSlides/notesSlide9.xml" Id="R6f3d85219a614031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592d8d2514c4402d" /><Relationship Type="http://schemas.openxmlformats.org/officeDocument/2006/relationships/notesSlide" Target="/ppt/notesSlides/notesSlide10.xml" Id="R4b998ee328c64faf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5689dbb4f9fb4c73" /><Relationship Type="http://schemas.openxmlformats.org/officeDocument/2006/relationships/notesSlide" Target="/ppt/notesSlides/notesSlide11.xml" Id="R2154d72a404e447b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dda542b6a0804a66" /><Relationship Type="http://schemas.openxmlformats.org/officeDocument/2006/relationships/notesSlide" Target="/ppt/notesSlides/notesSlide12.xml" Id="R564f5d8e5f80491d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16013ee815e54525" /><Relationship Type="http://schemas.openxmlformats.org/officeDocument/2006/relationships/notesSlide" Target="/ppt/notesSlides/notesSlide13.xml" Id="R0ef268a081674062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e9a0ede8ddbf4f21" /><Relationship Type="http://schemas.openxmlformats.org/officeDocument/2006/relationships/notesSlide" Target="/ppt/notesSlides/notesSlide14.xml" Id="R023f019f5f114e74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3fa40bd3339d40ed" /><Relationship Type="http://schemas.openxmlformats.org/officeDocument/2006/relationships/notesSlide" Target="/ppt/notesSlides/notesSlide15.xml" Id="Rc3d0d13a4227424f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0980f08d1b2d4d9a" /><Relationship Type="http://schemas.openxmlformats.org/officeDocument/2006/relationships/notesSlide" Target="/ppt/notesSlides/notesSlide16.xml" Id="R72547edabed94669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52310a07167842b0" /><Relationship Type="http://schemas.openxmlformats.org/officeDocument/2006/relationships/notesSlide" Target="/ppt/notesSlides/notesSlide17.xml" Id="Rc5c3984256984717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42c06f1191714054" /><Relationship Type="http://schemas.openxmlformats.org/officeDocument/2006/relationships/notesSlide" Target="/ppt/notesSlides/notesSlide18.xml" Id="Rc7a8edc1ecef4ae3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573948ebc4024633" /><Relationship Type="http://schemas.openxmlformats.org/officeDocument/2006/relationships/notesSlide" Target="/ppt/notesSlides/notesSlide19.xml" Id="R338fffbce46946f3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0e03a1d40f48489c" /><Relationship Type="http://schemas.openxmlformats.org/officeDocument/2006/relationships/notesSlide" Target="/ppt/notesSlides/notesSlide20.xml" Id="R5c695e6b01d4402b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987a9a487ff74a9c" /><Relationship Type="http://schemas.openxmlformats.org/officeDocument/2006/relationships/notesSlide" Target="/ppt/notesSlides/notesSlide21.xml" Id="Rec2dd62841cd4c1b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ef2ca3ca13af45bd" /><Relationship Type="http://schemas.openxmlformats.org/officeDocument/2006/relationships/notesSlide" Target="/ppt/notesSlides/notesSlide22.xml" Id="R0fdf46e3e38e4685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132d0f3a98144903" /><Relationship Type="http://schemas.openxmlformats.org/officeDocument/2006/relationships/notesSlide" Target="/ppt/notesSlides/notesSlide23.xml" Id="R50957ae9b8f54034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ba1dd2164f6f4fa4" /><Relationship Type="http://schemas.openxmlformats.org/officeDocument/2006/relationships/notesSlide" Target="/ppt/notesSlides/notesSlide24.xml" Id="R83e15aae40254531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076ee0770e874292" /><Relationship Type="http://schemas.openxmlformats.org/officeDocument/2006/relationships/notesSlide" Target="/ppt/notesSlides/notesSlide25.xml" Id="R6e4df2d95bef446e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6887ca7f06694d88" /><Relationship Type="http://schemas.openxmlformats.org/officeDocument/2006/relationships/notesSlide" Target="/ppt/notesSlides/notesSlide26.xml" Id="R3a95951d5bf142c9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731a9022c6344f04" /><Relationship Type="http://schemas.openxmlformats.org/officeDocument/2006/relationships/notesSlide" Target="/ppt/notesSlides/notesSlide27.xml" Id="R360fe8722f954716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1b85c6e802bc4673" /><Relationship Type="http://schemas.openxmlformats.org/officeDocument/2006/relationships/notesSlide" Target="/ppt/notesSlides/notesSlide28.xml" Id="R4616f796c5934541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097b9eb7e1f744f9" /><Relationship Type="http://schemas.openxmlformats.org/officeDocument/2006/relationships/notesSlide" Target="/ppt/notesSlides/notesSlide29.xml" Id="R659913c06527406e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5f6bb805959e4b7a" /><Relationship Type="http://schemas.openxmlformats.org/officeDocument/2006/relationships/notesSlide" Target="/ppt/notesSlides/notesSlide30.xml" Id="R81861c29d0134b70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b7ffcd0e6a7e4133" /><Relationship Type="http://schemas.openxmlformats.org/officeDocument/2006/relationships/notesSlide" Target="/ppt/notesSlides/notesSlide31.xml" Id="R737efe18fb164505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d5e3a80ed8684a15" /><Relationship Type="http://schemas.openxmlformats.org/officeDocument/2006/relationships/notesSlide" Target="/ppt/notesSlides/notesSlide32.xml" Id="R15eb7c3bbbc84909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200b8cd00271428b" /><Relationship Type="http://schemas.openxmlformats.org/officeDocument/2006/relationships/notesSlide" Target="/ppt/notesSlides/notesSlide33.xml" Id="Rbbb3b78d92834075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d854e5ae66a445bf" /><Relationship Type="http://schemas.openxmlformats.org/officeDocument/2006/relationships/notesSlide" Target="/ppt/notesSlides/notesSlide34.xml" Id="Rd31820e14d3e49e9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bead40f7a8ba46f5" /><Relationship Type="http://schemas.openxmlformats.org/officeDocument/2006/relationships/notesSlide" Target="/ppt/notesSlides/notesSlide35.xml" Id="R9e8e93e3e42a462b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847cc187266a43d5" /><Relationship Type="http://schemas.openxmlformats.org/officeDocument/2006/relationships/notesSlide" Target="/ppt/notesSlides/notesSlide36.xml" Id="R75f9ec6d6682468d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8a6cc0258cb84ce3" /><Relationship Type="http://schemas.openxmlformats.org/officeDocument/2006/relationships/notesSlide" Target="/ppt/notesSlides/notesSlide37.xml" Id="R15aad63b82a543e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E16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B82C3312-4CF8-4998-A68E-6BB0A8150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64592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C98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EA380F38-44F5-4D8C-BB89-6B1D0A29C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148840"/>
            <a:ext cx="96012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800" b="1">
                <a:solidFill>
                  <a:srgbClr val="14C98C"/>
                </a:solidFill>
                <a:latin typeface="Consolas"/>
                <a:ea typeface="Consolas"/>
                <a:cs typeface="Consolas"/>
              </a:rPr>
              <a:t>视觉组第四讲 · HELLO ARMOR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99E4CDCD-E459-4005-A565-73960CC13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514600"/>
            <a:ext cx="10515600" cy="1463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5200" b="1">
                <a:solidFill>
                  <a:srgbClr val="F3F5F9"/>
                </a:solidFill>
                <a:latin typeface="Microsoft YaHei"/>
                <a:ea typeface="Microsoft YaHei"/>
                <a:cs typeface="Microsoft YaHei"/>
              </a:rPr>
              <a:t>装甲板位姿解算</a:t>
            </a:r>
          </a:p>
          <a:p xmlns:a="http://schemas.openxmlformats.org/drawingml/2006/main">
            <a:r>
              <a:rPr sz="2000">
                <a:solidFill>
                  <a:srgbClr val="A9B4C9"/>
                </a:solidFill>
                <a:latin typeface="Microsoft YaHei"/>
                <a:ea typeface="Microsoft YaHei"/>
                <a:cs typeface="Microsoft YaHei"/>
              </a:rPr>
              <a:t>从 2D 识别结果到 3D 位姿：cv::solvePnP 全流程实战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E8EDC18B-B3F1-4C1E-BEE8-800EB244F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5760720"/>
            <a:ext cx="914400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400">
                <a:solidFill>
                  <a:srgbClr val="A9B4C9"/>
                </a:solidFill>
                <a:latin typeface="Microsoft YaHei"/>
                <a:ea typeface="Microsoft YaHei"/>
                <a:cs typeface="Microsoft YaHei"/>
              </a:rPr>
              <a:t>主讲人：______　　助教：______　　时长：90 分钟　　承接 Lecture 3《Hello OOP》</a:t>
            </a:r>
          </a:p>
        </p:txBody>
      </p:sp>
      <p:sp>
        <p:nvSpPr>
          <p:cNvPr id="6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77A8AE63-125F-4379-BE20-6B2177A57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2640" y="457200"/>
            <a:ext cx="2011680" cy="109728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E7EBF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300" i="1">
                <a:solidFill>
                  <a:srgbClr val="5B6377"/>
                </a:solidFill>
                <a:latin typeface="Microsoft YaHei"/>
                <a:ea typeface="Microsoft YaHei"/>
                <a:cs typeface="Microsoft YaHei"/>
              </a:rPr>
              <a:t>🖼  SP 队徽</a:t>
            </a:r>
          </a:p>
        </p:txBody>
      </p:sp>
    </p:spTree>
    <p:extLst>
      <p:ext uri="{BB962C8B-B14F-4D97-AF65-F5344CB8AC3E}">
        <p14:creationId xmlns:p14="http://schemas.microsoft.com/office/powerpoint/2010/main" val="66980151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22C8513E-03C6-43E5-B6A2-A609A620F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20040"/>
            <a:ext cx="73152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400" b="1">
                <a:solidFill>
                  <a:srgbClr val="14C98C"/>
                </a:solidFill>
                <a:latin typeface="Consolas"/>
                <a:ea typeface="Consolas"/>
                <a:cs typeface="Consolas"/>
              </a:rPr>
              <a:t>课程地图 · Roadmap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143004C9-F8FA-4FA5-858F-FA049BFD2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58368"/>
            <a:ext cx="1124712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3000" b="1">
                <a:solidFill>
                  <a:srgbClr val="202433"/>
                </a:solidFill>
                <a:latin typeface="Microsoft YaHei"/>
                <a:ea typeface="Microsoft YaHei"/>
                <a:cs typeface="Microsoft YaHei"/>
              </a:rPr>
              <a:t>今天 90 分钟，我们要走完这条链路</a:t>
            </a:r>
          </a:p>
        </p:txBody>
      </p:sp>
      <p:sp>
        <p:nvSpPr>
          <p:cNvPr id="4" name="Rounded Rectangle 3">
            <a:extLst xmlns:a="http://schemas.openxmlformats.org/drawingml/2006/main">
              <a:ext uri="{FF2B5EF4-FFF2-40B4-BE49-F238E27FC236}">
                <a16:creationId xmlns:a16="http://schemas.microsoft.com/office/drawing/2014/main" id="{E324E532-A960-4B8B-B0BF-D117231EC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600200"/>
            <a:ext cx="777240" cy="420624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14C98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1934269B-645A-41FB-AF39-9E348ACE4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600200"/>
            <a:ext cx="777240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500" b="1">
                <a:solidFill>
                  <a:srgbClr val="FFFFFF"/>
                </a:solidFill>
              </a:rPr>
              <a:t>P0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3AEEBA0C-B67F-435C-88D8-119990CDD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040" y="1600200"/>
            <a:ext cx="8778240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ctr">
            <a:spAutoFit/>
          </a:bodyPr>
          <a:lstStyle xmlns:a="http://schemas.openxmlformats.org/drawingml/2006/main"/>
          <a:p xmlns:a="http://schemas.openxmlformats.org/drawingml/2006/main">
            <a:r>
              <a:rPr sz="1600">
                <a:solidFill>
                  <a:srgbClr val="202433"/>
                </a:solidFill>
                <a:latin typeface="Microsoft YaHei"/>
                <a:ea typeface="Microsoft YaHei"/>
                <a:cs typeface="Microsoft YaHei"/>
              </a:rPr>
              <a:t>复习导入：上节课我们手里有了什么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FE26E338-8AE1-4D98-A42F-D9D05216D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2720" y="1600200"/>
            <a:ext cx="1280160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ctr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400">
                <a:solidFill>
                  <a:srgbClr val="5B6377"/>
                </a:solidFill>
                <a:latin typeface="Consolas"/>
                <a:ea typeface="Consolas"/>
                <a:cs typeface="Consolas"/>
              </a:rPr>
              <a:t>7 min</a:t>
            </a:r>
          </a:p>
        </p:txBody>
      </p:sp>
      <p:sp>
        <p:nvSpPr>
          <p:cNvPr id="8" name="Rounded Rectangle 7">
            <a:extLst xmlns:a="http://schemas.openxmlformats.org/drawingml/2006/main">
              <a:ext uri="{FF2B5EF4-FFF2-40B4-BE49-F238E27FC236}">
                <a16:creationId xmlns:a16="http://schemas.microsoft.com/office/drawing/2014/main" id="{F010EE44-1C24-438C-A671-3E5524A65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167128"/>
            <a:ext cx="777240" cy="420624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14C98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05AEBCA9-92C9-4DD1-BDB0-FC4DEAB67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167128"/>
            <a:ext cx="777240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500" b="1">
                <a:solidFill>
                  <a:srgbClr val="FFFFFF"/>
                </a:solidFill>
              </a:rPr>
              <a:t>P1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FBB313CA-DFF5-404C-924F-13C793F1B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040" y="2167128"/>
            <a:ext cx="8778240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ctr">
            <a:spAutoFit/>
          </a:bodyPr>
          <a:lstStyle xmlns:a="http://schemas.openxmlformats.org/drawingml/2006/main"/>
          <a:p xmlns:a="http://schemas.openxmlformats.org/drawingml/2006/main">
            <a:r>
              <a:rPr sz="1600">
                <a:solidFill>
                  <a:srgbClr val="202433"/>
                </a:solidFill>
                <a:latin typeface="Microsoft YaHei"/>
                <a:ea typeface="Microsoft YaHei"/>
                <a:cs typeface="Microsoft YaHei"/>
              </a:rPr>
              <a:t>为什么装甲板需要“位姿”而不只是位置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A7092B27-3425-4210-B616-C0EF10956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2720" y="2167128"/>
            <a:ext cx="1280160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ctr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400">
                <a:solidFill>
                  <a:srgbClr val="5B6377"/>
                </a:solidFill>
                <a:latin typeface="Consolas"/>
                <a:ea typeface="Consolas"/>
                <a:cs typeface="Consolas"/>
              </a:rPr>
              <a:t>7 min</a:t>
            </a:r>
          </a:p>
        </p:txBody>
      </p:sp>
      <p:sp>
        <p:nvSpPr>
          <p:cNvPr id="12" name="Rounded Rectangle 11">
            <a:extLst xmlns:a="http://schemas.openxmlformats.org/drawingml/2006/main">
              <a:ext uri="{FF2B5EF4-FFF2-40B4-BE49-F238E27FC236}">
                <a16:creationId xmlns:a16="http://schemas.microsoft.com/office/drawing/2014/main" id="{985C7F22-D835-4A36-9E5D-AE3A501AD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734056"/>
            <a:ext cx="777240" cy="420624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14C98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E685A426-F0B3-4E53-BA0A-D5C3643A5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734056"/>
            <a:ext cx="777240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500" b="1">
                <a:solidFill>
                  <a:srgbClr val="FFFFFF"/>
                </a:solidFill>
              </a:rPr>
              <a:t>P2</a:t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47A15CDC-9169-49D0-AE23-4D6F0D43F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040" y="2734056"/>
            <a:ext cx="8778240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ctr">
            <a:spAutoFit/>
          </a:bodyPr>
          <a:lstStyle xmlns:a="http://schemas.openxmlformats.org/drawingml/2006/main"/>
          <a:p xmlns:a="http://schemas.openxmlformats.org/drawingml/2006/main">
            <a:r>
              <a:rPr sz="1600">
                <a:solidFill>
                  <a:srgbClr val="202433"/>
                </a:solidFill>
                <a:latin typeface="Microsoft YaHei"/>
                <a:ea typeface="Microsoft YaHei"/>
                <a:cs typeface="Microsoft YaHei"/>
              </a:rPr>
              <a:t>PnP 原理与 cv::solvePnP 接口精讲</a:t>
            </a: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3BE75D50-0BC4-475C-A3DE-31C96040D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2720" y="2734056"/>
            <a:ext cx="1280160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ctr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400">
                <a:solidFill>
                  <a:srgbClr val="5B6377"/>
                </a:solidFill>
                <a:latin typeface="Consolas"/>
                <a:ea typeface="Consolas"/>
                <a:cs typeface="Consolas"/>
              </a:rPr>
              <a:t>13 min</a:t>
            </a:r>
          </a:p>
        </p:txBody>
      </p:sp>
      <p:sp>
        <p:nvSpPr>
          <p:cNvPr id="16" name="Rounded Rectangle 15">
            <a:extLst xmlns:a="http://schemas.openxmlformats.org/drawingml/2006/main">
              <a:ext uri="{FF2B5EF4-FFF2-40B4-BE49-F238E27FC236}">
                <a16:creationId xmlns:a16="http://schemas.microsoft.com/office/drawing/2014/main" id="{E56C6436-BFFF-4855-BC90-545E2987A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300984"/>
            <a:ext cx="777240" cy="420624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14C98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3DBA2E3C-4B23-448E-9395-33898F077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300984"/>
            <a:ext cx="777240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500" b="1">
                <a:solidFill>
                  <a:srgbClr val="FFFFFF"/>
                </a:solidFill>
              </a:rPr>
              <a:t>P3</a:t>
            </a: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D337D61C-E8C3-4EA6-81FF-1E0557C6D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040" y="3300984"/>
            <a:ext cx="8778240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ctr">
            <a:spAutoFit/>
          </a:bodyPr>
          <a:lstStyle xmlns:a="http://schemas.openxmlformats.org/drawingml/2006/main"/>
          <a:p xmlns:a="http://schemas.openxmlformats.org/drawingml/2006/main">
            <a:r>
              <a:rPr sz="1600">
                <a:solidFill>
                  <a:srgbClr val="202433"/>
                </a:solidFill>
                <a:latin typeface="Microsoft YaHei"/>
                <a:ea typeface="Microsoft YaHei"/>
                <a:cs typeface="Microsoft YaHei"/>
              </a:rPr>
              <a:t>动手实验一：Task 01~03，建立 3D-2D 对应并解 PnP</a:t>
            </a: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0DFE9E85-AE21-45F0-A2BF-FF84E8279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2720" y="3300984"/>
            <a:ext cx="1280160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ctr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400">
                <a:solidFill>
                  <a:srgbClr val="5B6377"/>
                </a:solidFill>
                <a:latin typeface="Consolas"/>
                <a:ea typeface="Consolas"/>
                <a:cs typeface="Consolas"/>
              </a:rPr>
              <a:t>19 min</a:t>
            </a:r>
          </a:p>
        </p:txBody>
      </p:sp>
      <p:sp>
        <p:nvSpPr>
          <p:cNvPr id="20" name="Rounded Rectangle 19">
            <a:extLst xmlns:a="http://schemas.openxmlformats.org/drawingml/2006/main">
              <a:ext uri="{FF2B5EF4-FFF2-40B4-BE49-F238E27FC236}">
                <a16:creationId xmlns:a16="http://schemas.microsoft.com/office/drawing/2014/main" id="{86C6DE91-8BD4-4FE3-B95A-7445168BC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867912"/>
            <a:ext cx="777240" cy="420624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14C98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9ED15C79-12E4-49E7-80FB-CD18732C5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867912"/>
            <a:ext cx="777240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500" b="1">
                <a:solidFill>
                  <a:srgbClr val="FFFFFF"/>
                </a:solidFill>
              </a:rPr>
              <a:t>P4</a:t>
            </a:r>
          </a:p>
        </p:txBody>
      </p:sp>
      <p:sp>
        <p:nvSpPr>
          <p:cNvPr id="22" name="TextBox 21">
            <a:extLst xmlns:a="http://schemas.openxmlformats.org/drawingml/2006/main">
              <a:ext uri="{FF2B5EF4-FFF2-40B4-BE49-F238E27FC236}">
                <a16:creationId xmlns:a16="http://schemas.microsoft.com/office/drawing/2014/main" id="{519555BA-F74B-4937-97CD-154257555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040" y="3867912"/>
            <a:ext cx="8778240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ctr">
            <a:spAutoFit/>
          </a:bodyPr>
          <a:lstStyle xmlns:a="http://schemas.openxmlformats.org/drawingml/2006/main"/>
          <a:p xmlns:a="http://schemas.openxmlformats.org/drawingml/2006/main">
            <a:r>
              <a:rPr sz="1600">
                <a:solidFill>
                  <a:srgbClr val="202433"/>
                </a:solidFill>
                <a:latin typeface="Microsoft YaHei"/>
                <a:ea typeface="Microsoft YaHei"/>
                <a:cs typeface="Microsoft YaHei"/>
              </a:rPr>
              <a:t>rvec 揭秘：旋转向量／矩阵／欧拉角／四元数</a:t>
            </a:r>
          </a:p>
        </p:txBody>
      </p:sp>
      <p:sp>
        <p:nvSpPr>
          <p:cNvPr id="23" name="TextBox 22">
            <a:extLst xmlns:a="http://schemas.openxmlformats.org/drawingml/2006/main">
              <a:ext uri="{FF2B5EF4-FFF2-40B4-BE49-F238E27FC236}">
                <a16:creationId xmlns:a16="http://schemas.microsoft.com/office/drawing/2014/main" id="{E4197DA5-5141-470D-A059-A5193E259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2720" y="3867912"/>
            <a:ext cx="1280160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ctr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400">
                <a:solidFill>
                  <a:srgbClr val="5B6377"/>
                </a:solidFill>
                <a:latin typeface="Consolas"/>
                <a:ea typeface="Consolas"/>
                <a:cs typeface="Consolas"/>
              </a:rPr>
              <a:t>12 min</a:t>
            </a:r>
          </a:p>
        </p:txBody>
      </p:sp>
      <p:sp>
        <p:nvSpPr>
          <p:cNvPr id="24" name="Rounded Rectangle 23">
            <a:extLst xmlns:a="http://schemas.openxmlformats.org/drawingml/2006/main">
              <a:ext uri="{FF2B5EF4-FFF2-40B4-BE49-F238E27FC236}">
                <a16:creationId xmlns:a16="http://schemas.microsoft.com/office/drawing/2014/main" id="{1A9209F6-FAB5-45D4-85C0-0A5DF26AF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434840"/>
            <a:ext cx="777240" cy="420624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14C98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5" name="TextBox 24">
            <a:extLst xmlns:a="http://schemas.openxmlformats.org/drawingml/2006/main">
              <a:ext uri="{FF2B5EF4-FFF2-40B4-BE49-F238E27FC236}">
                <a16:creationId xmlns:a16="http://schemas.microsoft.com/office/drawing/2014/main" id="{72230E46-7F4E-45FB-8B16-55A609712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434840"/>
            <a:ext cx="777240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500" b="1">
                <a:solidFill>
                  <a:srgbClr val="FFFFFF"/>
                </a:solidFill>
              </a:rPr>
              <a:t>P5</a:t>
            </a:r>
          </a:p>
        </p:txBody>
      </p:sp>
      <p:sp>
        <p:nvSpPr>
          <p:cNvPr id="26" name="TextBox 25">
            <a:extLst xmlns:a="http://schemas.openxmlformats.org/drawingml/2006/main">
              <a:ext uri="{FF2B5EF4-FFF2-40B4-BE49-F238E27FC236}">
                <a16:creationId xmlns:a16="http://schemas.microsoft.com/office/drawing/2014/main" id="{E77CAC6B-2635-491A-BDFB-C36C533F1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040" y="4434840"/>
            <a:ext cx="8778240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ctr">
            <a:spAutoFit/>
          </a:bodyPr>
          <a:lstStyle xmlns:a="http://schemas.openxmlformats.org/drawingml/2006/main"/>
          <a:p xmlns:a="http://schemas.openxmlformats.org/drawingml/2006/main">
            <a:r>
              <a:rPr sz="1600">
                <a:solidFill>
                  <a:srgbClr val="202433"/>
                </a:solidFill>
                <a:latin typeface="Microsoft YaHei"/>
                <a:ea typeface="Microsoft YaHei"/>
                <a:cs typeface="Microsoft YaHei"/>
              </a:rPr>
              <a:t>动手实验二：Task 04~05，验证结果并得到瞄准角</a:t>
            </a:r>
          </a:p>
        </p:txBody>
      </p:sp>
      <p:sp>
        <p:nvSpPr>
          <p:cNvPr id="27" name="TextBox 26">
            <a:extLst xmlns:a="http://schemas.openxmlformats.org/drawingml/2006/main">
              <a:ext uri="{FF2B5EF4-FFF2-40B4-BE49-F238E27FC236}">
                <a16:creationId xmlns:a16="http://schemas.microsoft.com/office/drawing/2014/main" id="{FA4D7093-C042-4898-A6E5-41A31BB92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2720" y="4434840"/>
            <a:ext cx="1280160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ctr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400">
                <a:solidFill>
                  <a:srgbClr val="5B6377"/>
                </a:solidFill>
                <a:latin typeface="Consolas"/>
                <a:ea typeface="Consolas"/>
                <a:cs typeface="Consolas"/>
              </a:rPr>
              <a:t>17 min</a:t>
            </a:r>
          </a:p>
        </p:txBody>
      </p:sp>
      <p:sp>
        <p:nvSpPr>
          <p:cNvPr id="28" name="Rounded Rectangle 27">
            <a:extLst xmlns:a="http://schemas.openxmlformats.org/drawingml/2006/main">
              <a:ext uri="{FF2B5EF4-FFF2-40B4-BE49-F238E27FC236}">
                <a16:creationId xmlns:a16="http://schemas.microsoft.com/office/drawing/2014/main" id="{6146D6F7-82DD-4F29-B800-0D37E360D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5001768"/>
            <a:ext cx="777240" cy="420624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14C98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9" name="TextBox 28">
            <a:extLst xmlns:a="http://schemas.openxmlformats.org/drawingml/2006/main">
              <a:ext uri="{FF2B5EF4-FFF2-40B4-BE49-F238E27FC236}">
                <a16:creationId xmlns:a16="http://schemas.microsoft.com/office/drawing/2014/main" id="{F992B52B-8417-4243-B758-7344F0C51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5001768"/>
            <a:ext cx="777240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500" b="1">
                <a:solidFill>
                  <a:srgbClr val="FFFFFF"/>
                </a:solidFill>
              </a:rPr>
              <a:t>P6</a:t>
            </a:r>
          </a:p>
        </p:txBody>
      </p:sp>
      <p:sp>
        <p:nvSpPr>
          <p:cNvPr id="30" name="TextBox 29">
            <a:extLst xmlns:a="http://schemas.openxmlformats.org/drawingml/2006/main">
              <a:ext uri="{FF2B5EF4-FFF2-40B4-BE49-F238E27FC236}">
                <a16:creationId xmlns:a16="http://schemas.microsoft.com/office/drawing/2014/main" id="{F1633AC4-E7C9-48D8-8C8E-9F56C8E2E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040" y="5001768"/>
            <a:ext cx="8778240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ctr">
            <a:spAutoFit/>
          </a:bodyPr>
          <a:lstStyle xmlns:a="http://schemas.openxmlformats.org/drawingml/2006/main"/>
          <a:p xmlns:a="http://schemas.openxmlformats.org/drawingml/2006/main">
            <a:r>
              <a:rPr sz="1600">
                <a:solidFill>
                  <a:srgbClr val="202433"/>
                </a:solidFill>
                <a:latin typeface="Microsoft YaHei"/>
                <a:ea typeface="Microsoft YaHei"/>
                <a:cs typeface="Microsoft YaHei"/>
              </a:rPr>
              <a:t>坐标系全景：从像素到机器人本体 / IMU</a:t>
            </a:r>
          </a:p>
        </p:txBody>
      </p:sp>
      <p:sp>
        <p:nvSpPr>
          <p:cNvPr id="31" name="TextBox 30">
            <a:extLst xmlns:a="http://schemas.openxmlformats.org/drawingml/2006/main">
              <a:ext uri="{FF2B5EF4-FFF2-40B4-BE49-F238E27FC236}">
                <a16:creationId xmlns:a16="http://schemas.microsoft.com/office/drawing/2014/main" id="{2F949B56-0934-46CF-9A9B-800C1919B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2720" y="5001768"/>
            <a:ext cx="1280160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ctr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400">
                <a:solidFill>
                  <a:srgbClr val="5B6377"/>
                </a:solidFill>
                <a:latin typeface="Consolas"/>
                <a:ea typeface="Consolas"/>
                <a:cs typeface="Consolas"/>
              </a:rPr>
              <a:t>6 min</a:t>
            </a:r>
          </a:p>
        </p:txBody>
      </p:sp>
      <p:sp>
        <p:nvSpPr>
          <p:cNvPr id="32" name="Rounded Rectangle 31">
            <a:extLst xmlns:a="http://schemas.openxmlformats.org/drawingml/2006/main">
              <a:ext uri="{FF2B5EF4-FFF2-40B4-BE49-F238E27FC236}">
                <a16:creationId xmlns:a16="http://schemas.microsoft.com/office/drawing/2014/main" id="{F8E2AC3C-8C27-4A32-86E5-3FE52E8F1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5568696"/>
            <a:ext cx="777240" cy="420624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14C98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3" name="TextBox 32">
            <a:extLst xmlns:a="http://schemas.openxmlformats.org/drawingml/2006/main">
              <a:ext uri="{FF2B5EF4-FFF2-40B4-BE49-F238E27FC236}">
                <a16:creationId xmlns:a16="http://schemas.microsoft.com/office/drawing/2014/main" id="{2581F372-6B11-447E-AEB4-B444066AE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5568696"/>
            <a:ext cx="777240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500" b="1">
                <a:solidFill>
                  <a:srgbClr val="FFFFFF"/>
                </a:solidFill>
              </a:rPr>
              <a:t>P7</a:t>
            </a:r>
          </a:p>
        </p:txBody>
      </p:sp>
      <p:sp>
        <p:nvSpPr>
          <p:cNvPr id="34" name="TextBox 33">
            <a:extLst xmlns:a="http://schemas.openxmlformats.org/drawingml/2006/main">
              <a:ext uri="{FF2B5EF4-FFF2-40B4-BE49-F238E27FC236}">
                <a16:creationId xmlns:a16="http://schemas.microsoft.com/office/drawing/2014/main" id="{DC05024D-1A4F-4131-AC27-AF785AC50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040" y="5568696"/>
            <a:ext cx="8778240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ctr">
            <a:spAutoFit/>
          </a:bodyPr>
          <a:lstStyle xmlns:a="http://schemas.openxmlformats.org/drawingml/2006/main"/>
          <a:p xmlns:a="http://schemas.openxmlformats.org/drawingml/2006/main">
            <a:r>
              <a:rPr sz="1600">
                <a:solidFill>
                  <a:srgbClr val="202433"/>
                </a:solidFill>
                <a:latin typeface="Microsoft YaHei"/>
                <a:ea typeface="Microsoft YaHei"/>
                <a:cs typeface="Microsoft YaHei"/>
              </a:rPr>
              <a:t>总结、答疑与作业布置</a:t>
            </a:r>
          </a:p>
        </p:txBody>
      </p:sp>
      <p:sp>
        <p:nvSpPr>
          <p:cNvPr id="35" name="TextBox 34">
            <a:extLst xmlns:a="http://schemas.openxmlformats.org/drawingml/2006/main">
              <a:ext uri="{FF2B5EF4-FFF2-40B4-BE49-F238E27FC236}">
                <a16:creationId xmlns:a16="http://schemas.microsoft.com/office/drawing/2014/main" id="{EA5CB846-8FD0-4F12-83E8-A0C04F543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2720" y="5568696"/>
            <a:ext cx="1280160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ctr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400">
                <a:solidFill>
                  <a:srgbClr val="5B6377"/>
                </a:solidFill>
                <a:latin typeface="Consolas"/>
                <a:ea typeface="Consolas"/>
                <a:cs typeface="Consolas"/>
              </a:rPr>
              <a:t>6 min</a:t>
            </a:r>
          </a:p>
        </p:txBody>
      </p:sp>
      <p:sp>
        <p:nvSpPr>
          <p:cNvPr id="36" name="TextBox 35">
            <a:extLst xmlns:a="http://schemas.openxmlformats.org/drawingml/2006/main">
              <a:ext uri="{FF2B5EF4-FFF2-40B4-BE49-F238E27FC236}">
                <a16:creationId xmlns:a16="http://schemas.microsoft.com/office/drawing/2014/main" id="{59D669D7-0739-49D1-A132-62AC73420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73952"/>
            <a:ext cx="86868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000">
                <a:solidFill>
                  <a:srgbClr val="5B6377"/>
                </a:solidFill>
                <a:latin typeface="Consolas"/>
                <a:ea typeface="Consolas"/>
                <a:cs typeface="Consolas"/>
              </a:rPr>
              <a:t>Hello Armor · 装甲板位姿解算    P0 课程地图</a:t>
            </a:r>
          </a:p>
        </p:txBody>
      </p:sp>
      <p:sp>
        <p:nvSpPr>
          <p:cNvPr id="37" name="TextBox 36">
            <a:extLst xmlns:a="http://schemas.openxmlformats.org/drawingml/2006/main">
              <a:ext uri="{FF2B5EF4-FFF2-40B4-BE49-F238E27FC236}">
                <a16:creationId xmlns:a16="http://schemas.microsoft.com/office/drawing/2014/main" id="{43631BD0-694D-4B58-846A-0522E2626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5680" y="6473952"/>
            <a:ext cx="59436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000">
                <a:solidFill>
                  <a:srgbClr val="5B6377"/>
                </a:solidFill>
                <a:latin typeface="Consolas"/>
                <a:ea typeface="Consolas"/>
                <a:cs typeface="Consolas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57700904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E16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7C83B6B2-2188-4E43-BC7C-D7B1A8488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64592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C98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4626F2BE-929C-4BAC-B11A-F4DA39F35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468880"/>
            <a:ext cx="2743200" cy="1280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6400" b="1">
                <a:solidFill>
                  <a:srgbClr val="14C98C"/>
                </a:solidFill>
                <a:latin typeface="Consolas"/>
                <a:ea typeface="Consolas"/>
                <a:cs typeface="Consolas"/>
              </a:rPr>
              <a:t>P0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518B3A55-0E77-47F0-B861-00DC2D44E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1840" y="2697480"/>
            <a:ext cx="8229600" cy="1280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solidFill>
                  <a:srgbClr val="F3F5F9"/>
                </a:solidFill>
                <a:latin typeface="Microsoft YaHei"/>
                <a:ea typeface="Microsoft YaHei"/>
                <a:cs typeface="Microsoft YaHei"/>
              </a:rPr>
              <a:t>复习导入</a:t>
            </a:r>
          </a:p>
          <a:p xmlns:a="http://schemas.openxmlformats.org/drawingml/2006/main">
            <a:r>
              <a:rPr sz="1800">
                <a:solidFill>
                  <a:srgbClr val="A9B4C9"/>
                </a:solidFill>
                <a:latin typeface="Microsoft YaHei"/>
                <a:ea typeface="Microsoft YaHei"/>
                <a:cs typeface="Microsoft YaHei"/>
              </a:rPr>
              <a:t>上节课我们手里有了什么？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6931EE52-8736-44F3-9F9E-191B6AC67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73952"/>
            <a:ext cx="86868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000">
                <a:solidFill>
                  <a:srgbClr val="A9B4C9"/>
                </a:solidFill>
                <a:latin typeface="Consolas"/>
                <a:ea typeface="Consolas"/>
                <a:cs typeface="Consolas"/>
              </a:rPr>
              <a:t>Hello Armor · 装甲板位姿解算    P0 复习导入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2F17BB31-598A-4B59-A1F7-53A913A16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5680" y="6473952"/>
            <a:ext cx="59436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000">
                <a:solidFill>
                  <a:srgbClr val="A9B4C9"/>
                </a:solidFill>
                <a:latin typeface="Consolas"/>
                <a:ea typeface="Consolas"/>
                <a:cs typeface="Consolas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75292112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12D4A1CF-6A25-40B1-9AB1-D96D61522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20040"/>
            <a:ext cx="73152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400" b="1">
                <a:solidFill>
                  <a:srgbClr val="14C98C"/>
                </a:solidFill>
                <a:latin typeface="Consolas"/>
                <a:ea typeface="Consolas"/>
                <a:cs typeface="Consolas"/>
              </a:rPr>
              <a:t>P0 · 复习导入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DD1A1B66-C829-4989-B2CD-DDC56C232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777240"/>
            <a:ext cx="1124712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3000" b="1">
                <a:solidFill>
                  <a:srgbClr val="202433"/>
                </a:solidFill>
                <a:latin typeface="Microsoft YaHei"/>
                <a:ea typeface="Microsoft YaHei"/>
                <a:cs typeface="Microsoft YaHei"/>
              </a:rPr>
              <a:t>上节课回顾（Hello OOP）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6A56EE62-3F78-4BFB-A2D0-B5FF721DC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691640"/>
            <a:ext cx="10881360" cy="44805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spcAft>
                <a:spcPts val="1000"/>
              </a:spcAft>
              <a:buNone/>
            </a:pPr>
            <a:r>
              <a:rPr sz="2000" b="0">
                <a:solidFill>
                  <a:srgbClr val="202433"/>
                </a:solidFill>
                <a:latin typeface="Microsoft YaHei"/>
                <a:ea typeface="Microsoft YaHei"/>
                <a:cs typeface="Microsoft YaHei"/>
              </a:rPr>
              <a:t>· C/C++ 编译与 CMake：会写 CMakeLists.txt，能编译、运行自己的工程</a:t>
            </a:r>
          </a:p>
          <a:p xmlns:a="http://schemas.openxmlformats.org/drawingml/2006/main">
            <a:pPr>
              <a:lnSpc>
                <a:spcPct val="118000"/>
              </a:lnSpc>
              <a:spcAft>
                <a:spcPts val="1000"/>
              </a:spcAft>
              <a:buNone/>
            </a:pPr>
            <a:r>
              <a:rPr sz="2000" b="0">
                <a:solidFill>
                  <a:srgbClr val="202433"/>
                </a:solidFill>
                <a:latin typeface="Microsoft YaHei"/>
                <a:ea typeface="Microsoft YaHei"/>
                <a:cs typeface="Microsoft YaHei"/>
              </a:rPr>
              <a:t>· </a:t>
            </a:r>
            <a:r>
              <a:rPr sz="2000" b="1">
                <a:solidFill>
                  <a:srgbClr val="3D5AFE"/>
                </a:solidFill>
                <a:latin typeface="Microsoft YaHei"/>
                <a:ea typeface="Microsoft YaHei"/>
                <a:cs typeface="Microsoft YaHei"/>
              </a:rPr>
              <a:t>面向对象</a:t>
            </a:r>
            <a:r>
              <a:rPr sz="2000" b="0">
                <a:solidFill>
                  <a:srgbClr val="202433"/>
                </a:solidFill>
                <a:latin typeface="Microsoft YaHei"/>
                <a:ea typeface="Microsoft YaHei"/>
                <a:cs typeface="Microsoft YaHei"/>
              </a:rPr>
              <a:t>：类 = 属性 + 方法；构造/析构函数；</a:t>
            </a:r>
            <a:r>
              <a:rPr sz="2000" b="1">
                <a:solidFill>
                  <a:srgbClr val="3D5AFE"/>
                </a:solidFill>
                <a:latin typeface="Microsoft YaHei"/>
                <a:ea typeface="Microsoft YaHei"/>
                <a:cs typeface="Microsoft YaHei"/>
              </a:rPr>
              <a:t>封装</a:t>
            </a:r>
            <a:r>
              <a:rPr sz="2000" b="0">
                <a:solidFill>
                  <a:srgbClr val="202433"/>
                </a:solidFill>
                <a:latin typeface="Microsoft YaHei"/>
                <a:ea typeface="Microsoft YaHei"/>
                <a:cs typeface="Microsoft YaHei"/>
              </a:rPr>
              <a:t>——数据安全、隐藏实现、便于协作、防止耦合</a:t>
            </a:r>
          </a:p>
          <a:p xmlns:a="http://schemas.openxmlformats.org/drawingml/2006/main">
            <a:pPr>
              <a:lnSpc>
                <a:spcPct val="118000"/>
              </a:lnSpc>
              <a:spcAft>
                <a:spcPts val="1000"/>
              </a:spcAft>
              <a:buNone/>
            </a:pPr>
            <a:r>
              <a:rPr sz="2000" b="0">
                <a:solidFill>
                  <a:srgbClr val="202433"/>
                </a:solidFill>
                <a:latin typeface="Microsoft YaHei"/>
                <a:ea typeface="Microsoft YaHei"/>
                <a:cs typeface="Microsoft YaHei"/>
              </a:rPr>
              <a:t>· 已经写好的两个类：</a:t>
            </a:r>
          </a:p>
          <a:p xmlns:a="http://schemas.openxmlformats.org/drawingml/2006/main">
            <a:pPr>
              <a:lnSpc>
                <a:spcPct val="118000"/>
              </a:lnSpc>
              <a:spcAft>
                <a:spcPts val="600"/>
              </a:spcAft>
              <a:buNone/>
            </a:pPr>
            <a:r>
              <a:rPr sz="1700" b="0">
                <a:solidFill>
                  <a:srgbClr val="202433"/>
                </a:solidFill>
                <a:latin typeface="Microsoft YaHei"/>
                <a:ea typeface="Microsoft YaHei"/>
                <a:cs typeface="Microsoft YaHei"/>
              </a:rPr>
              <a:t>      ‑ </a:t>
            </a:r>
            <a:r>
              <a:rPr sz="1700" b="1">
                <a:solidFill>
                  <a:srgbClr val="3D5AFE"/>
                </a:solidFill>
                <a:latin typeface="Microsoft YaHei"/>
                <a:ea typeface="Microsoft YaHei"/>
                <a:cs typeface="Microsoft YaHei"/>
              </a:rPr>
              <a:t>Camera</a:t>
            </a:r>
            <a:r>
              <a:rPr sz="1700" b="0">
                <a:solidFill>
                  <a:srgbClr val="202433"/>
                </a:solidFill>
                <a:latin typeface="Microsoft YaHei"/>
                <a:ea typeface="Microsoft YaHei"/>
                <a:cs typeface="Microsoft YaHei"/>
              </a:rPr>
              <a:t> 类：封装取图细节，对外只给一帧图像 + 时间戳</a:t>
            </a:r>
          </a:p>
          <a:p xmlns:a="http://schemas.openxmlformats.org/drawingml/2006/main">
            <a:pPr>
              <a:lnSpc>
                <a:spcPct val="118000"/>
              </a:lnSpc>
              <a:spcAft>
                <a:spcPts val="600"/>
              </a:spcAft>
              <a:buNone/>
            </a:pPr>
            <a:r>
              <a:rPr sz="1700" b="0">
                <a:solidFill>
                  <a:srgbClr val="202433"/>
                </a:solidFill>
                <a:latin typeface="Microsoft YaHei"/>
                <a:ea typeface="Microsoft YaHei"/>
                <a:cs typeface="Microsoft YaHei"/>
              </a:rPr>
              <a:t>      ‑ </a:t>
            </a:r>
            <a:r>
              <a:rPr sz="1700" b="1">
                <a:solidFill>
                  <a:srgbClr val="3D5AFE"/>
                </a:solidFill>
                <a:latin typeface="Microsoft YaHei"/>
                <a:ea typeface="Microsoft YaHei"/>
                <a:cs typeface="Microsoft YaHei"/>
              </a:rPr>
              <a:t>识别器 / Detector</a:t>
            </a:r>
            <a:r>
              <a:rPr sz="1700" b="0">
                <a:solidFill>
                  <a:srgbClr val="202433"/>
                </a:solidFill>
                <a:latin typeface="Microsoft YaHei"/>
                <a:ea typeface="Microsoft YaHei"/>
                <a:cs typeface="Microsoft YaHei"/>
              </a:rPr>
              <a:t> 类：目标是识别装甲板并分类（位置、颜色、数字）</a:t>
            </a:r>
          </a:p>
          <a:p xmlns:a="http://schemas.openxmlformats.org/drawingml/2006/main">
            <a:pPr>
              <a:lnSpc>
                <a:spcPct val="118000"/>
              </a:lnSpc>
              <a:spcAft>
                <a:spcPts val="600"/>
              </a:spcAft>
              <a:buNone/>
            </a:pPr>
            <a:r>
              <a:rPr sz="1700" b="0">
                <a:solidFill>
                  <a:srgbClr val="202433"/>
                </a:solidFill>
                <a:latin typeface="Microsoft YaHei"/>
                <a:ea typeface="Microsoft YaHei"/>
                <a:cs typeface="Microsoft YaHei"/>
              </a:rPr>
              <a:t>      ‑ 两种识别思路：传统灯条法 / YOLO-pose 端到端</a:t>
            </a:r>
          </a:p>
          <a:p xmlns:a="http://schemas.openxmlformats.org/drawingml/2006/main">
            <a:pPr>
              <a:lnSpc>
                <a:spcPct val="118000"/>
              </a:lnSpc>
              <a:spcAft>
                <a:spcPts val="1000"/>
              </a:spcAft>
              <a:buNone/>
            </a:pPr>
            <a:r>
              <a:rPr sz="2000" b="0">
                <a:solidFill>
                  <a:srgbClr val="202433"/>
                </a:solidFill>
                <a:latin typeface="Microsoft YaHei"/>
                <a:ea typeface="Microsoft YaHei"/>
                <a:cs typeface="Microsoft YaHei"/>
              </a:rPr>
              <a:t>· 作业：连接工业相机，封装相机类，用神经网络识别装甲板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6BB7992F-0854-4048-8C5D-A20023AD0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73952"/>
            <a:ext cx="86868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000">
                <a:solidFill>
                  <a:srgbClr val="5B6377"/>
                </a:solidFill>
                <a:latin typeface="Consolas"/>
                <a:ea typeface="Consolas"/>
                <a:cs typeface="Consolas"/>
              </a:rPr>
              <a:t>Hello Armor · 装甲板位姿解算    P0 复习导入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44DDFCF0-F3FC-45CB-9F01-C2E157378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5680" y="6473952"/>
            <a:ext cx="59436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000">
                <a:solidFill>
                  <a:srgbClr val="5B6377"/>
                </a:solidFill>
                <a:latin typeface="Consolas"/>
                <a:ea typeface="Consolas"/>
                <a:cs typeface="Consolas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24647333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06964F79-BF31-4BEB-8F72-2409F86A2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20040"/>
            <a:ext cx="73152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400" b="1">
                <a:solidFill>
                  <a:srgbClr val="14C98C"/>
                </a:solidFill>
                <a:latin typeface="Consolas"/>
                <a:ea typeface="Consolas"/>
                <a:cs typeface="Consolas"/>
              </a:rPr>
              <a:t>P0 · 复习导入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08DD2D49-FBDB-4798-8207-77FA24878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777240"/>
            <a:ext cx="1124712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3000" b="1">
                <a:solidFill>
                  <a:srgbClr val="202433"/>
                </a:solidFill>
                <a:latin typeface="Microsoft YaHei"/>
                <a:ea typeface="Microsoft YaHei"/>
                <a:cs typeface="Microsoft YaHei"/>
              </a:rPr>
              <a:t>现在，程序手里已经有了什么？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86D0328E-0A0F-4C1A-A2A6-C46785D88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691640"/>
            <a:ext cx="6858000" cy="44805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spcAft>
                <a:spcPts val="1000"/>
              </a:spcAft>
              <a:buNone/>
            </a:pPr>
            <a:r>
              <a:rPr sz="2000" b="0">
                <a:solidFill>
                  <a:srgbClr val="202433"/>
                </a:solidFill>
                <a:latin typeface="Microsoft YaHei"/>
                <a:ea typeface="Microsoft YaHei"/>
                <a:cs typeface="Microsoft YaHei"/>
              </a:rPr>
              <a:t>· </a:t>
            </a:r>
            <a:r>
              <a:rPr sz="2000" b="1">
                <a:solidFill>
                  <a:srgbClr val="3D5AFE"/>
                </a:solidFill>
                <a:latin typeface="Microsoft YaHei"/>
                <a:ea typeface="Microsoft YaHei"/>
                <a:cs typeface="Microsoft YaHei"/>
              </a:rPr>
              <a:t>detector.detect(img)</a:t>
            </a:r>
            <a:r>
              <a:rPr sz="2000" b="0">
                <a:solidFill>
                  <a:srgbClr val="202433"/>
                </a:solidFill>
                <a:latin typeface="Microsoft YaHei"/>
                <a:ea typeface="Microsoft YaHei"/>
                <a:cs typeface="Microsoft YaHei"/>
              </a:rPr>
              <a:t> 返回 </a:t>
            </a:r>
            <a:r>
              <a:rPr sz="2000" b="1">
                <a:solidFill>
                  <a:srgbClr val="3D5AFE"/>
                </a:solidFill>
                <a:latin typeface="Microsoft YaHei"/>
                <a:ea typeface="Microsoft YaHei"/>
                <a:cs typeface="Microsoft YaHei"/>
              </a:rPr>
              <a:t>armors</a:t>
            </a:r>
            <a:r>
              <a:rPr sz="2000" b="0">
                <a:solidFill>
                  <a:srgbClr val="202433"/>
                </a:solidFill>
                <a:latin typeface="Microsoft YaHei"/>
                <a:ea typeface="Microsoft YaHei"/>
                <a:cs typeface="Microsoft YaHei"/>
              </a:rPr>
              <a:t>（一个 Armor 列表）</a:t>
            </a:r>
          </a:p>
          <a:p xmlns:a="http://schemas.openxmlformats.org/drawingml/2006/main">
            <a:pPr>
              <a:lnSpc>
                <a:spcPct val="118000"/>
              </a:lnSpc>
              <a:spcAft>
                <a:spcPts val="1000"/>
              </a:spcAft>
              <a:buNone/>
            </a:pPr>
            <a:r>
              <a:rPr sz="2000" b="0">
                <a:solidFill>
                  <a:srgbClr val="202433"/>
                </a:solidFill>
                <a:latin typeface="Microsoft YaHei"/>
                <a:ea typeface="Microsoft YaHei"/>
                <a:cs typeface="Microsoft YaHei"/>
              </a:rPr>
              <a:t>· </a:t>
            </a:r>
            <a:r>
              <a:rPr sz="2000" b="1">
                <a:solidFill>
                  <a:srgbClr val="3D5AFE"/>
                </a:solidFill>
                <a:latin typeface="Microsoft YaHei"/>
                <a:ea typeface="Microsoft YaHei"/>
                <a:cs typeface="Microsoft YaHei"/>
              </a:rPr>
              <a:t>Armor</a:t>
            </a:r>
            <a:r>
              <a:rPr sz="2000" b="0">
                <a:solidFill>
                  <a:srgbClr val="202433"/>
                </a:solidFill>
                <a:latin typeface="Microsoft YaHei"/>
                <a:ea typeface="Microsoft YaHei"/>
                <a:cs typeface="Microsoft YaHei"/>
              </a:rPr>
              <a:t> 结构体里有 </a:t>
            </a:r>
            <a:r>
              <a:rPr sz="2000" b="1">
                <a:solidFill>
                  <a:srgbClr val="3D5AFE"/>
                </a:solidFill>
                <a:latin typeface="Microsoft YaHei"/>
                <a:ea typeface="Microsoft YaHei"/>
                <a:cs typeface="Microsoft YaHei"/>
              </a:rPr>
              <a:t>left / right</a:t>
            </a:r>
            <a:r>
              <a:rPr sz="2000" b="0">
                <a:solidFill>
                  <a:srgbClr val="202433"/>
                </a:solidFill>
                <a:latin typeface="Microsoft YaHei"/>
                <a:ea typeface="Microsoft YaHei"/>
                <a:cs typeface="Microsoft YaHei"/>
              </a:rPr>
              <a:t> 两根灯条（Lightbar）</a:t>
            </a:r>
          </a:p>
          <a:p xmlns:a="http://schemas.openxmlformats.org/drawingml/2006/main">
            <a:pPr>
              <a:lnSpc>
                <a:spcPct val="118000"/>
              </a:lnSpc>
              <a:spcAft>
                <a:spcPts val="1000"/>
              </a:spcAft>
              <a:buNone/>
            </a:pPr>
            <a:r>
              <a:rPr sz="2000" b="0">
                <a:solidFill>
                  <a:srgbClr val="202433"/>
                </a:solidFill>
                <a:latin typeface="Microsoft YaHei"/>
                <a:ea typeface="Microsoft YaHei"/>
                <a:cs typeface="Microsoft YaHei"/>
              </a:rPr>
              <a:t>· 每根 </a:t>
            </a:r>
            <a:r>
              <a:rPr sz="2000" b="1">
                <a:solidFill>
                  <a:srgbClr val="3D5AFE"/>
                </a:solidFill>
                <a:latin typeface="Microsoft YaHei"/>
                <a:ea typeface="Microsoft YaHei"/>
                <a:cs typeface="Microsoft YaHei"/>
              </a:rPr>
              <a:t>Lightbar</a:t>
            </a:r>
            <a:r>
              <a:rPr sz="2000" b="0">
                <a:solidFill>
                  <a:srgbClr val="202433"/>
                </a:solidFill>
                <a:latin typeface="Microsoft YaHei"/>
                <a:ea typeface="Microsoft YaHei"/>
                <a:cs typeface="Microsoft YaHei"/>
              </a:rPr>
              <a:t> 有 </a:t>
            </a:r>
            <a:r>
              <a:rPr sz="2000" b="1">
                <a:solidFill>
                  <a:srgbClr val="3D5AFE"/>
                </a:solidFill>
                <a:latin typeface="Microsoft YaHei"/>
                <a:ea typeface="Microsoft YaHei"/>
                <a:cs typeface="Microsoft YaHei"/>
              </a:rPr>
              <a:t>top / bottom</a:t>
            </a:r>
            <a:r>
              <a:rPr sz="2000" b="0">
                <a:solidFill>
                  <a:srgbClr val="202433"/>
                </a:solidFill>
                <a:latin typeface="Microsoft YaHei"/>
                <a:ea typeface="Microsoft YaHei"/>
                <a:cs typeface="Microsoft YaHei"/>
              </a:rPr>
              <a:t> 两个端点 → 一块装甲板 = </a:t>
            </a:r>
            <a:r>
              <a:rPr sz="2000" b="1">
                <a:solidFill>
                  <a:srgbClr val="3D5AFE"/>
                </a:solidFill>
                <a:latin typeface="Microsoft YaHei"/>
                <a:ea typeface="Microsoft YaHei"/>
                <a:cs typeface="Microsoft YaHei"/>
              </a:rPr>
              <a:t>4 个 2D 像素点</a:t>
            </a:r>
          </a:p>
          <a:p xmlns:a="http://schemas.openxmlformats.org/drawingml/2006/main">
            <a:pPr>
              <a:lnSpc>
                <a:spcPct val="118000"/>
              </a:lnSpc>
              <a:spcAft>
                <a:spcPts val="1000"/>
              </a:spcAft>
              <a:buNone/>
            </a:pPr>
            <a:r>
              <a:rPr sz="2000" b="0">
                <a:solidFill>
                  <a:srgbClr val="202433"/>
                </a:solidFill>
                <a:latin typeface="Microsoft YaHei"/>
                <a:ea typeface="Microsoft YaHei"/>
                <a:cs typeface="Microsoft YaHei"/>
              </a:rPr>
              <a:t>· 也就是说：识别这一步，已经把“装甲板在哪张图的哪个位置”这件事解决了</a:t>
            </a:r>
          </a:p>
        </p:txBody>
      </p:sp>
      <p:sp>
        <p:nvSpPr>
          <p:cNvPr id="5" name="Rounded Rectangle 4">
            <a:extLst xmlns:a="http://schemas.openxmlformats.org/drawingml/2006/main">
              <a:ext uri="{FF2B5EF4-FFF2-40B4-BE49-F238E27FC236}">
                <a16:creationId xmlns:a16="http://schemas.microsoft.com/office/drawing/2014/main" id="{8CAE809B-44CD-4F91-9764-DACB1AB02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5240" y="1737360"/>
            <a:ext cx="3977639" cy="393192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E7EBF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300" i="1">
                <a:solidFill>
                  <a:srgbClr val="5B6377"/>
                </a:solidFill>
                <a:latin typeface="Microsoft YaHei"/>
                <a:ea typeface="Microsoft YaHei"/>
                <a:cs typeface="Microsoft YaHei"/>
              </a:rPr>
              <a:t>🖼  Armor / Lightbar 结构体关系图
（left/right → top/bottom → 4 个像素点）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E43D8684-83FF-4313-A172-9CABA13DB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73952"/>
            <a:ext cx="86868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000">
                <a:solidFill>
                  <a:srgbClr val="5B6377"/>
                </a:solidFill>
                <a:latin typeface="Consolas"/>
                <a:ea typeface="Consolas"/>
                <a:cs typeface="Consolas"/>
              </a:rPr>
              <a:t>Hello Armor · 装甲板位姿解算    P0 复习导入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DC51A603-8756-4F3B-A9B2-B87F31DBD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5680" y="6473952"/>
            <a:ext cx="59436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000">
                <a:solidFill>
                  <a:srgbClr val="5B6377"/>
                </a:solidFill>
                <a:latin typeface="Consolas"/>
                <a:ea typeface="Consolas"/>
                <a:cs typeface="Consolas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20758062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0AD3FA4A-9A64-428D-8FE6-434732A9A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20040"/>
            <a:ext cx="73152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400" b="1">
                <a:solidFill>
                  <a:srgbClr val="14C98C"/>
                </a:solidFill>
                <a:latin typeface="Consolas"/>
                <a:ea typeface="Consolas"/>
                <a:cs typeface="Consolas"/>
              </a:rPr>
              <a:t>P0 · 复习导入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19F291FA-EB82-476F-B98F-6366782C1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777240"/>
            <a:ext cx="1124712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3000" b="1">
                <a:solidFill>
                  <a:srgbClr val="202433"/>
                </a:solidFill>
                <a:latin typeface="Microsoft YaHei"/>
                <a:ea typeface="Microsoft YaHei"/>
                <a:cs typeface="Microsoft YaHei"/>
              </a:rPr>
              <a:t>只有这 4 个 2D 点，够瞄准吗？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E00CAFC3-2E50-4CC7-A48C-AEAAC1A0C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691640"/>
            <a:ext cx="6858000" cy="44805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spcAft>
                <a:spcPts val="1000"/>
              </a:spcAft>
              <a:buNone/>
            </a:pPr>
            <a:r>
              <a:rPr sz="2000" b="0">
                <a:solidFill>
                  <a:srgbClr val="202433"/>
                </a:solidFill>
                <a:latin typeface="Microsoft YaHei"/>
                <a:ea typeface="Microsoft YaHei"/>
                <a:cs typeface="Microsoft YaHei"/>
              </a:rPr>
              <a:t>· 看两张图：3 号车比 4 号车离我们更远 —— 人眼一眼就能判断距离，程序呢？</a:t>
            </a:r>
          </a:p>
          <a:p xmlns:a="http://schemas.openxmlformats.org/drawingml/2006/main">
            <a:pPr>
              <a:lnSpc>
                <a:spcPct val="118000"/>
              </a:lnSpc>
              <a:spcAft>
                <a:spcPts val="1000"/>
              </a:spcAft>
              <a:buNone/>
            </a:pPr>
            <a:r>
              <a:rPr sz="2000" b="0">
                <a:solidFill>
                  <a:srgbClr val="202433"/>
                </a:solidFill>
                <a:latin typeface="Microsoft YaHei"/>
                <a:ea typeface="Microsoft YaHei"/>
                <a:cs typeface="Microsoft YaHei"/>
              </a:rPr>
              <a:t>· 再看三张图：同一块装甲板，角度都不一样 —— 这是“朝向”的差异</a:t>
            </a:r>
          </a:p>
          <a:p xmlns:a="http://schemas.openxmlformats.org/drawingml/2006/main">
            <a:pPr>
              <a:lnSpc>
                <a:spcPct val="118000"/>
              </a:lnSpc>
              <a:spcAft>
                <a:spcPts val="1000"/>
              </a:spcAft>
              <a:buNone/>
            </a:pPr>
            <a:r>
              <a:rPr sz="2000" b="0">
                <a:solidFill>
                  <a:srgbClr val="202433"/>
                </a:solidFill>
                <a:latin typeface="Microsoft YaHei"/>
                <a:ea typeface="Microsoft YaHei"/>
                <a:cs typeface="Microsoft YaHei"/>
              </a:rPr>
              <a:t>· 提问互动：仅凭图像上 4 个像素点的坐标，你能猜出装甲板离相机多远、朝哪个方向偏吗？</a:t>
            </a:r>
          </a:p>
        </p:txBody>
      </p:sp>
      <p:sp>
        <p:nvSpPr>
          <p:cNvPr id="5" name="Rounded Rectangle 4">
            <a:extLst xmlns:a="http://schemas.openxmlformats.org/drawingml/2006/main">
              <a:ext uri="{FF2B5EF4-FFF2-40B4-BE49-F238E27FC236}">
                <a16:creationId xmlns:a16="http://schemas.microsoft.com/office/drawing/2014/main" id="{5A6AF1A7-8CF4-4C0B-9514-2DC25E5E8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5240" y="1737360"/>
            <a:ext cx="3977639" cy="393192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E7EBF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300" i="1">
                <a:solidFill>
                  <a:srgbClr val="5B6377"/>
                </a:solidFill>
                <a:latin typeface="Microsoft YaHei"/>
                <a:ea typeface="Microsoft YaHei"/>
                <a:cs typeface="Microsoft YaHei"/>
              </a:rPr>
              <a:t>🖼  同一装甲板：不同距离 + 不同旋转角度
的对比照片（3 张）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E6D5AED0-6D57-409E-AC6D-6271E4A1C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5240" y="5715000"/>
            <a:ext cx="3977639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i="1">
                <a:solidFill>
                  <a:srgbClr val="5B6377"/>
                </a:solidFill>
                <a:latin typeface="Microsoft YaHei"/>
                <a:ea typeface="Microsoft YaHei"/>
                <a:cs typeface="Microsoft YaHei"/>
              </a:rPr>
              <a:t>引导学生讨论后再进入下一部分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556C03A3-878A-400B-B882-187136197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73952"/>
            <a:ext cx="86868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000">
                <a:solidFill>
                  <a:srgbClr val="5B6377"/>
                </a:solidFill>
                <a:latin typeface="Consolas"/>
                <a:ea typeface="Consolas"/>
                <a:cs typeface="Consolas"/>
              </a:rPr>
              <a:t>Hello Armor · 装甲板位姿解算    P0 复习导入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D3FDD27E-E77A-4861-94D4-999C311E3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5680" y="6473952"/>
            <a:ext cx="59436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000">
                <a:solidFill>
                  <a:srgbClr val="5B6377"/>
                </a:solidFill>
                <a:latin typeface="Consolas"/>
                <a:ea typeface="Consolas"/>
                <a:cs typeface="Consolas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99236593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E16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0AF108F9-4563-4BAD-8AAF-4BEF010AE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64592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C98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0BD821D5-21DD-4828-BEA3-21331D7C8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468880"/>
            <a:ext cx="2743200" cy="1280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6400" b="1">
                <a:solidFill>
                  <a:srgbClr val="14C98C"/>
                </a:solidFill>
                <a:latin typeface="Consolas"/>
                <a:ea typeface="Consolas"/>
                <a:cs typeface="Consolas"/>
              </a:rPr>
              <a:t>P1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8331968B-D728-4AFE-B12A-1AA9A6281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1840" y="2697480"/>
            <a:ext cx="8229600" cy="1280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solidFill>
                  <a:srgbClr val="F3F5F9"/>
                </a:solidFill>
                <a:latin typeface="Microsoft YaHei"/>
                <a:ea typeface="Microsoft YaHei"/>
                <a:cs typeface="Microsoft YaHei"/>
              </a:rPr>
              <a:t>为什么需要位姿</a:t>
            </a:r>
          </a:p>
          <a:p xmlns:a="http://schemas.openxmlformats.org/drawingml/2006/main">
            <a:r>
              <a:rPr sz="1800">
                <a:solidFill>
                  <a:srgbClr val="A9B4C9"/>
                </a:solidFill>
                <a:latin typeface="Microsoft YaHei"/>
                <a:ea typeface="Microsoft YaHei"/>
                <a:cs typeface="Microsoft YaHei"/>
              </a:rPr>
              <a:t>位置够不够？朝向怎么描述？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0F86EBB3-7294-4F3C-BE85-904B5DB94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73952"/>
            <a:ext cx="86868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000">
                <a:solidFill>
                  <a:srgbClr val="A9B4C9"/>
                </a:solidFill>
                <a:latin typeface="Consolas"/>
                <a:ea typeface="Consolas"/>
                <a:cs typeface="Consolas"/>
              </a:rPr>
              <a:t>Hello Armor · 装甲板位姿解算    P1 为什么需要位姿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A74264D7-D741-4DC3-9592-6E7D39AC3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5680" y="6473952"/>
            <a:ext cx="59436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000">
                <a:solidFill>
                  <a:srgbClr val="A9B4C9"/>
                </a:solidFill>
                <a:latin typeface="Consolas"/>
                <a:ea typeface="Consolas"/>
                <a:cs typeface="Consolas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42607072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537E72EE-C77D-4EFA-8104-787BE4DED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20040"/>
            <a:ext cx="73152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400" b="1">
                <a:solidFill>
                  <a:srgbClr val="14C98C"/>
                </a:solidFill>
                <a:latin typeface="Consolas"/>
                <a:ea typeface="Consolas"/>
                <a:cs typeface="Consolas"/>
              </a:rPr>
              <a:t>P1 · 为什么需要位姿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CD1DDD07-E24C-45AF-89FB-0C90EBAFF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777240"/>
            <a:ext cx="1124712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3000" b="1">
                <a:solidFill>
                  <a:srgbClr val="202433"/>
                </a:solidFill>
                <a:latin typeface="Microsoft YaHei"/>
                <a:ea typeface="Microsoft YaHei"/>
                <a:cs typeface="Microsoft YaHei"/>
              </a:rPr>
              <a:t>位姿 = 位置 + 朝向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12616574-299C-4857-AE9C-5963216EC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691640"/>
            <a:ext cx="6858000" cy="44805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spcAft>
                <a:spcPts val="1000"/>
              </a:spcAft>
              <a:buNone/>
            </a:pPr>
            <a:r>
              <a:rPr sz="2000" b="0">
                <a:solidFill>
                  <a:srgbClr val="202433"/>
                </a:solidFill>
                <a:latin typeface="Microsoft YaHei"/>
                <a:ea typeface="Microsoft YaHei"/>
                <a:cs typeface="Microsoft YaHei"/>
              </a:rPr>
              <a:t>· </a:t>
            </a:r>
            <a:r>
              <a:rPr sz="2000" b="1">
                <a:solidFill>
                  <a:srgbClr val="3D5AFE"/>
                </a:solidFill>
                <a:latin typeface="Microsoft YaHei"/>
                <a:ea typeface="Microsoft YaHei"/>
                <a:cs typeface="Microsoft YaHei"/>
              </a:rPr>
              <a:t>位置（Position）</a:t>
            </a:r>
            <a:r>
              <a:rPr sz="2000" b="0">
                <a:solidFill>
                  <a:srgbClr val="202433"/>
                </a:solidFill>
                <a:latin typeface="Microsoft YaHei"/>
                <a:ea typeface="Microsoft YaHei"/>
                <a:cs typeface="Microsoft YaHei"/>
              </a:rPr>
              <a:t>：一个三维向量 (x, y, z)，装甲板中心在相机坐标系下的坐标</a:t>
            </a:r>
          </a:p>
          <a:p xmlns:a="http://schemas.openxmlformats.org/drawingml/2006/main">
            <a:pPr>
              <a:lnSpc>
                <a:spcPct val="118000"/>
              </a:lnSpc>
              <a:spcAft>
                <a:spcPts val="1000"/>
              </a:spcAft>
              <a:buNone/>
            </a:pPr>
            <a:r>
              <a:rPr sz="2000" b="0">
                <a:solidFill>
                  <a:srgbClr val="202433"/>
                </a:solidFill>
                <a:latin typeface="Microsoft YaHei"/>
                <a:ea typeface="Microsoft YaHei"/>
                <a:cs typeface="Microsoft YaHei"/>
              </a:rPr>
              <a:t>· </a:t>
            </a:r>
            <a:r>
              <a:rPr sz="2000" b="1">
                <a:solidFill>
                  <a:srgbClr val="3D5AFE"/>
                </a:solidFill>
                <a:latin typeface="Microsoft YaHei"/>
                <a:ea typeface="Microsoft YaHei"/>
                <a:cs typeface="Microsoft YaHei"/>
              </a:rPr>
              <a:t>朝向（Orientation / Rotation）</a:t>
            </a:r>
            <a:r>
              <a:rPr sz="2000" b="0">
                <a:solidFill>
                  <a:srgbClr val="202433"/>
                </a:solidFill>
                <a:latin typeface="Microsoft YaHei"/>
                <a:ea typeface="Microsoft YaHei"/>
                <a:cs typeface="Microsoft YaHei"/>
              </a:rPr>
              <a:t>：装甲板“转了多少度、往哪边转”</a:t>
            </a:r>
          </a:p>
          <a:p xmlns:a="http://schemas.openxmlformats.org/drawingml/2006/main">
            <a:pPr>
              <a:lnSpc>
                <a:spcPct val="118000"/>
              </a:lnSpc>
              <a:spcAft>
                <a:spcPts val="1000"/>
              </a:spcAft>
              <a:buNone/>
            </a:pPr>
            <a:r>
              <a:rPr sz="2000" b="0">
                <a:solidFill>
                  <a:srgbClr val="202433"/>
                </a:solidFill>
                <a:latin typeface="Microsoft YaHei"/>
                <a:ea typeface="Microsoft YaHei"/>
                <a:cs typeface="Microsoft YaHei"/>
              </a:rPr>
              <a:t>· 直观理解朝向——借用飞机的三个转动自由度：</a:t>
            </a:r>
          </a:p>
          <a:p xmlns:a="http://schemas.openxmlformats.org/drawingml/2006/main">
            <a:pPr>
              <a:lnSpc>
                <a:spcPct val="118000"/>
              </a:lnSpc>
              <a:spcAft>
                <a:spcPts val="600"/>
              </a:spcAft>
              <a:buNone/>
            </a:pPr>
            <a:r>
              <a:rPr sz="1700" b="0">
                <a:solidFill>
                  <a:srgbClr val="202433"/>
                </a:solidFill>
                <a:latin typeface="Microsoft YaHei"/>
                <a:ea typeface="Microsoft YaHei"/>
                <a:cs typeface="Microsoft YaHei"/>
              </a:rPr>
              <a:t>      ‑ </a:t>
            </a:r>
            <a:r>
              <a:rPr sz="1700" b="1">
                <a:solidFill>
                  <a:srgbClr val="3D5AFE"/>
                </a:solidFill>
                <a:latin typeface="Microsoft YaHei"/>
                <a:ea typeface="Microsoft YaHei"/>
                <a:cs typeface="Microsoft YaHei"/>
              </a:rPr>
              <a:t>偏航 yaw</a:t>
            </a:r>
            <a:r>
              <a:rPr sz="1700" b="0">
                <a:solidFill>
                  <a:srgbClr val="202433"/>
                </a:solidFill>
                <a:latin typeface="Microsoft YaHei"/>
                <a:ea typeface="Microsoft YaHei"/>
                <a:cs typeface="Microsoft YaHei"/>
              </a:rPr>
              <a:t>：绕“上下轴”转，改变朝向左右</a:t>
            </a:r>
          </a:p>
          <a:p xmlns:a="http://schemas.openxmlformats.org/drawingml/2006/main">
            <a:pPr>
              <a:lnSpc>
                <a:spcPct val="118000"/>
              </a:lnSpc>
              <a:spcAft>
                <a:spcPts val="600"/>
              </a:spcAft>
              <a:buNone/>
            </a:pPr>
            <a:r>
              <a:rPr sz="1700" b="0">
                <a:solidFill>
                  <a:srgbClr val="202433"/>
                </a:solidFill>
                <a:latin typeface="Microsoft YaHei"/>
                <a:ea typeface="Microsoft YaHei"/>
                <a:cs typeface="Microsoft YaHei"/>
              </a:rPr>
              <a:t>      ‑ </a:t>
            </a:r>
            <a:r>
              <a:rPr sz="1700" b="1">
                <a:solidFill>
                  <a:srgbClr val="3D5AFE"/>
                </a:solidFill>
                <a:latin typeface="Microsoft YaHei"/>
                <a:ea typeface="Microsoft YaHei"/>
                <a:cs typeface="Microsoft YaHei"/>
              </a:rPr>
              <a:t>俯仰 pitch</a:t>
            </a:r>
            <a:r>
              <a:rPr sz="1700" b="0">
                <a:solidFill>
                  <a:srgbClr val="202433"/>
                </a:solidFill>
                <a:latin typeface="Microsoft YaHei"/>
                <a:ea typeface="Microsoft YaHei"/>
                <a:cs typeface="Microsoft YaHei"/>
              </a:rPr>
              <a:t>：绕“左右轴”转，改变抬头低头</a:t>
            </a:r>
          </a:p>
          <a:p xmlns:a="http://schemas.openxmlformats.org/drawingml/2006/main">
            <a:pPr>
              <a:lnSpc>
                <a:spcPct val="118000"/>
              </a:lnSpc>
              <a:spcAft>
                <a:spcPts val="600"/>
              </a:spcAft>
              <a:buNone/>
            </a:pPr>
            <a:r>
              <a:rPr sz="1700" b="0">
                <a:solidFill>
                  <a:srgbClr val="202433"/>
                </a:solidFill>
                <a:latin typeface="Microsoft YaHei"/>
                <a:ea typeface="Microsoft YaHei"/>
                <a:cs typeface="Microsoft YaHei"/>
              </a:rPr>
              <a:t>      ‑ </a:t>
            </a:r>
            <a:r>
              <a:rPr sz="1700" b="1">
                <a:solidFill>
                  <a:srgbClr val="3D5AFE"/>
                </a:solidFill>
                <a:latin typeface="Microsoft YaHei"/>
                <a:ea typeface="Microsoft YaHei"/>
                <a:cs typeface="Microsoft YaHei"/>
              </a:rPr>
              <a:t>横滚 roll</a:t>
            </a:r>
            <a:r>
              <a:rPr sz="1700" b="0">
                <a:solidFill>
                  <a:srgbClr val="202433"/>
                </a:solidFill>
                <a:latin typeface="Microsoft YaHei"/>
                <a:ea typeface="Microsoft YaHei"/>
                <a:cs typeface="Microsoft YaHei"/>
              </a:rPr>
              <a:t>：绕“前后轴”转，改变侧向倾斜</a:t>
            </a:r>
          </a:p>
        </p:txBody>
      </p:sp>
      <p:sp>
        <p:nvSpPr>
          <p:cNvPr id="5" name="Rounded Rectangle 4">
            <a:extLst xmlns:a="http://schemas.openxmlformats.org/drawingml/2006/main">
              <a:ext uri="{FF2B5EF4-FFF2-40B4-BE49-F238E27FC236}">
                <a16:creationId xmlns:a16="http://schemas.microsoft.com/office/drawing/2014/main" id="{3137A86C-B56A-4826-B1DA-3C905C025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5240" y="1737360"/>
            <a:ext cx="3977639" cy="393192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E7EBF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300" i="1">
                <a:solidFill>
                  <a:srgbClr val="5B6377"/>
                </a:solidFill>
                <a:latin typeface="Microsoft YaHei"/>
                <a:ea typeface="Microsoft YaHei"/>
                <a:cs typeface="Microsoft YaHei"/>
              </a:rPr>
              <a:t>🖼  飞机 yaw / pitch / roll 三轴示意图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859D268E-15EE-4C19-93B2-B40024096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73952"/>
            <a:ext cx="86868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000">
                <a:solidFill>
                  <a:srgbClr val="5B6377"/>
                </a:solidFill>
                <a:latin typeface="Consolas"/>
                <a:ea typeface="Consolas"/>
                <a:cs typeface="Consolas"/>
              </a:rPr>
              <a:t>Hello Armor · 装甲板位姿解算    P1 为什么需要位姿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D29DD783-6236-4869-9108-C9499B0AE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5680" y="6473952"/>
            <a:ext cx="59436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000">
                <a:solidFill>
                  <a:srgbClr val="5B6377"/>
                </a:solidFill>
                <a:latin typeface="Consolas"/>
                <a:ea typeface="Consolas"/>
                <a:cs typeface="Consolas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65656501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355A1F0B-5A25-4AFD-8D07-014DEA2C5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20040"/>
            <a:ext cx="73152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400" b="1">
                <a:solidFill>
                  <a:srgbClr val="14C98C"/>
                </a:solidFill>
                <a:latin typeface="Consolas"/>
                <a:ea typeface="Consolas"/>
                <a:cs typeface="Consolas"/>
              </a:rPr>
              <a:t>P1 · 为什么需要位姿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65990479-AB8D-41F9-BE36-6F8851A33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777240"/>
            <a:ext cx="1124712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3000" b="1">
                <a:solidFill>
                  <a:srgbClr val="202433"/>
                </a:solidFill>
                <a:latin typeface="Microsoft YaHei"/>
                <a:ea typeface="Microsoft YaHei"/>
                <a:cs typeface="Microsoft YaHei"/>
              </a:rPr>
              <a:t>先认清两个坐标系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5BD54B78-EEB8-43BD-BB3B-B06CD608D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691640"/>
            <a:ext cx="6858000" cy="44805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spcAft>
                <a:spcPts val="1000"/>
              </a:spcAft>
              <a:buNone/>
            </a:pPr>
            <a:r>
              <a:rPr sz="2000" b="0">
                <a:solidFill>
                  <a:srgbClr val="202433"/>
                </a:solidFill>
                <a:latin typeface="Microsoft YaHei"/>
                <a:ea typeface="Microsoft YaHei"/>
                <a:cs typeface="Microsoft YaHei"/>
              </a:rPr>
              <a:t>· </a:t>
            </a:r>
            <a:r>
              <a:rPr sz="2000" b="1">
                <a:solidFill>
                  <a:srgbClr val="3D5AFE"/>
                </a:solidFill>
                <a:latin typeface="Microsoft YaHei"/>
                <a:ea typeface="Microsoft YaHei"/>
                <a:cs typeface="Microsoft YaHei"/>
              </a:rPr>
              <a:t>装甲板局部坐标系</a:t>
            </a:r>
            <a:r>
              <a:rPr sz="2000" b="0">
                <a:solidFill>
                  <a:srgbClr val="202433"/>
                </a:solidFill>
                <a:latin typeface="Microsoft YaHei"/>
                <a:ea typeface="Microsoft YaHei"/>
                <a:cs typeface="Microsoft YaHei"/>
              </a:rPr>
              <a:t>：原点在装甲板中心，x 向右、y 向下、z 指向板外</a:t>
            </a:r>
          </a:p>
          <a:p xmlns:a="http://schemas.openxmlformats.org/drawingml/2006/main">
            <a:pPr>
              <a:lnSpc>
                <a:spcPct val="118000"/>
              </a:lnSpc>
              <a:spcAft>
                <a:spcPts val="600"/>
              </a:spcAft>
              <a:buNone/>
            </a:pPr>
            <a:r>
              <a:rPr sz="1700" b="0">
                <a:solidFill>
                  <a:srgbClr val="202433"/>
                </a:solidFill>
                <a:latin typeface="Microsoft YaHei"/>
                <a:ea typeface="Microsoft YaHei"/>
                <a:cs typeface="Microsoft YaHei"/>
              </a:rPr>
              <a:t>      ‑ 物理尺寸（今天要用到）：</a:t>
            </a:r>
            <a:r>
              <a:rPr sz="1700" b="1">
                <a:solidFill>
                  <a:srgbClr val="3D5AFE"/>
                </a:solidFill>
                <a:latin typeface="Microsoft YaHei"/>
                <a:ea typeface="Microsoft YaHei"/>
                <a:cs typeface="Microsoft YaHei"/>
              </a:rPr>
              <a:t>ARMOR_WIDTH = 0.135 m</a:t>
            </a:r>
            <a:r>
              <a:rPr sz="1700" b="0">
                <a:solidFill>
                  <a:srgbClr val="202433"/>
                </a:solidFill>
                <a:latin typeface="Microsoft YaHei"/>
                <a:ea typeface="Microsoft YaHei"/>
                <a:cs typeface="Microsoft YaHei"/>
              </a:rPr>
              <a:t>（灯条间宽），</a:t>
            </a:r>
            <a:r>
              <a:rPr sz="1700" b="1">
                <a:solidFill>
                  <a:srgbClr val="3D5AFE"/>
                </a:solidFill>
                <a:latin typeface="Microsoft YaHei"/>
                <a:ea typeface="Microsoft YaHei"/>
                <a:cs typeface="Microsoft YaHei"/>
              </a:rPr>
              <a:t>LIGHTBAR_LENGTH = 0.056 m</a:t>
            </a:r>
            <a:r>
              <a:rPr sz="1700" b="0">
                <a:solidFill>
                  <a:srgbClr val="202433"/>
                </a:solidFill>
                <a:latin typeface="Microsoft YaHei"/>
                <a:ea typeface="Microsoft YaHei"/>
                <a:cs typeface="Microsoft YaHei"/>
              </a:rPr>
              <a:t>（单根灯条长）</a:t>
            </a:r>
          </a:p>
          <a:p xmlns:a="http://schemas.openxmlformats.org/drawingml/2006/main">
            <a:pPr>
              <a:lnSpc>
                <a:spcPct val="118000"/>
              </a:lnSpc>
              <a:spcAft>
                <a:spcPts val="1000"/>
              </a:spcAft>
              <a:buNone/>
            </a:pPr>
            <a:r>
              <a:rPr sz="2000" b="0">
                <a:solidFill>
                  <a:srgbClr val="202433"/>
                </a:solidFill>
                <a:latin typeface="Microsoft YaHei"/>
                <a:ea typeface="Microsoft YaHei"/>
                <a:cs typeface="Microsoft YaHei"/>
              </a:rPr>
              <a:t>· </a:t>
            </a:r>
            <a:r>
              <a:rPr sz="2000" b="1">
                <a:solidFill>
                  <a:srgbClr val="3D5AFE"/>
                </a:solidFill>
                <a:latin typeface="Microsoft YaHei"/>
                <a:ea typeface="Microsoft YaHei"/>
                <a:cs typeface="Microsoft YaHei"/>
              </a:rPr>
              <a:t>相机坐标系</a:t>
            </a:r>
            <a:r>
              <a:rPr sz="2000" b="0">
                <a:solidFill>
                  <a:srgbClr val="202433"/>
                </a:solidFill>
                <a:latin typeface="Microsoft YaHei"/>
                <a:ea typeface="Microsoft YaHei"/>
                <a:cs typeface="Microsoft YaHei"/>
              </a:rPr>
              <a:t>：原点是镜头光心，随相机刚体一起平移、旋转</a:t>
            </a:r>
          </a:p>
          <a:p xmlns:a="http://schemas.openxmlformats.org/drawingml/2006/main">
            <a:pPr>
              <a:lnSpc>
                <a:spcPct val="118000"/>
              </a:lnSpc>
              <a:spcAft>
                <a:spcPts val="1000"/>
              </a:spcAft>
              <a:buNone/>
            </a:pPr>
            <a:r>
              <a:rPr sz="2000" b="0">
                <a:solidFill>
                  <a:srgbClr val="202433"/>
                </a:solidFill>
                <a:latin typeface="Microsoft YaHei"/>
                <a:ea typeface="Microsoft YaHei"/>
                <a:cs typeface="Microsoft YaHei"/>
              </a:rPr>
              <a:t>· 我们的目标：算出“装甲板坐标系”相对“相机坐标系”的 </a:t>
            </a:r>
            <a:r>
              <a:rPr sz="2000" b="1">
                <a:solidFill>
                  <a:srgbClr val="3D5AFE"/>
                </a:solidFill>
                <a:latin typeface="Microsoft YaHei"/>
                <a:ea typeface="Microsoft YaHei"/>
                <a:cs typeface="Microsoft YaHei"/>
              </a:rPr>
              <a:t>旋转 R</a:t>
            </a:r>
            <a:r>
              <a:rPr sz="2000" b="0">
                <a:solidFill>
                  <a:srgbClr val="202433"/>
                </a:solidFill>
                <a:latin typeface="Microsoft YaHei"/>
                <a:ea typeface="Microsoft YaHei"/>
                <a:cs typeface="Microsoft YaHei"/>
              </a:rPr>
              <a:t> 和 </a:t>
            </a:r>
            <a:r>
              <a:rPr sz="2000" b="1">
                <a:solidFill>
                  <a:srgbClr val="3D5AFE"/>
                </a:solidFill>
                <a:latin typeface="Microsoft YaHei"/>
                <a:ea typeface="Microsoft YaHei"/>
                <a:cs typeface="Microsoft YaHei"/>
              </a:rPr>
              <a:t>平移 t</a:t>
            </a:r>
          </a:p>
        </p:txBody>
      </p:sp>
      <p:sp>
        <p:nvSpPr>
          <p:cNvPr id="5" name="Rounded Rectangle 4">
            <a:extLst xmlns:a="http://schemas.openxmlformats.org/drawingml/2006/main">
              <a:ext uri="{FF2B5EF4-FFF2-40B4-BE49-F238E27FC236}">
                <a16:creationId xmlns:a16="http://schemas.microsoft.com/office/drawing/2014/main" id="{E0A5E841-0611-4894-9C8C-481F6345E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5240" y="1737360"/>
            <a:ext cx="3977639" cy="393192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E7EBF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300" i="1">
                <a:solidFill>
                  <a:srgbClr val="5B6377"/>
                </a:solidFill>
                <a:latin typeface="Microsoft YaHei"/>
                <a:ea typeface="Microsoft YaHei"/>
                <a:cs typeface="Microsoft YaHei"/>
              </a:rPr>
              <a:t>🖼  装甲板局部坐标系 + 相机坐标系
双坐标轴示意图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87E02E4A-C4C4-4E25-B2ED-525190D27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73952"/>
            <a:ext cx="86868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000">
                <a:solidFill>
                  <a:srgbClr val="5B6377"/>
                </a:solidFill>
                <a:latin typeface="Consolas"/>
                <a:ea typeface="Consolas"/>
                <a:cs typeface="Consolas"/>
              </a:rPr>
              <a:t>Hello Armor · 装甲板位姿解算    P1 为什么需要位姿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8DBC24F7-01C0-470E-8B02-1E0F0C721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5680" y="6473952"/>
            <a:ext cx="59436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000">
                <a:solidFill>
                  <a:srgbClr val="5B6377"/>
                </a:solidFill>
                <a:latin typeface="Consolas"/>
                <a:ea typeface="Consolas"/>
                <a:cs typeface="Consolas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67311340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D75CBA6A-B437-4CFF-AA12-E6C1F94B0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20040"/>
            <a:ext cx="73152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400" b="1">
                <a:solidFill>
                  <a:srgbClr val="14C98C"/>
                </a:solidFill>
                <a:latin typeface="Consolas"/>
                <a:ea typeface="Consolas"/>
                <a:cs typeface="Consolas"/>
              </a:rPr>
              <a:t>P1 · 为什么需要位姿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33C01816-264B-4A21-82E4-BAEC33C35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777240"/>
            <a:ext cx="1124712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3000" b="1">
                <a:solidFill>
                  <a:srgbClr val="202433"/>
                </a:solidFill>
                <a:latin typeface="Microsoft YaHei"/>
                <a:ea typeface="Microsoft YaHei"/>
                <a:cs typeface="Microsoft YaHei"/>
              </a:rPr>
              <a:t>工程上为什么必须要“姿态”，不只是“位置”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29249607-7C03-42BC-9260-0F524F698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691640"/>
            <a:ext cx="6858000" cy="44805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spcAft>
                <a:spcPts val="1000"/>
              </a:spcAft>
              <a:buNone/>
            </a:pPr>
            <a:r>
              <a:rPr sz="2000" b="0">
                <a:solidFill>
                  <a:srgbClr val="202433"/>
                </a:solidFill>
                <a:latin typeface="Microsoft YaHei"/>
                <a:ea typeface="Microsoft YaHei"/>
                <a:cs typeface="Microsoft YaHei"/>
              </a:rPr>
              <a:t>· ① </a:t>
            </a:r>
            <a:r>
              <a:rPr sz="2000" b="1">
                <a:solidFill>
                  <a:srgbClr val="3D5AFE"/>
                </a:solidFill>
                <a:latin typeface="Microsoft YaHei"/>
                <a:ea typeface="Microsoft YaHei"/>
                <a:cs typeface="Microsoft YaHei"/>
              </a:rPr>
              <a:t>相机和枪管往往不重合、不共轴</a:t>
            </a:r>
            <a:r>
              <a:rPr sz="2000" b="0">
                <a:solidFill>
                  <a:srgbClr val="202433"/>
                </a:solidFill>
                <a:latin typeface="Microsoft YaHei"/>
                <a:ea typeface="Microsoft YaHei"/>
                <a:cs typeface="Microsoft YaHei"/>
              </a:rPr>
              <a:t> —— 只用 2D 画面中心瞄准，会有系统性偏差</a:t>
            </a:r>
          </a:p>
          <a:p xmlns:a="http://schemas.openxmlformats.org/drawingml/2006/main">
            <a:pPr>
              <a:lnSpc>
                <a:spcPct val="118000"/>
              </a:lnSpc>
              <a:spcAft>
                <a:spcPts val="1000"/>
              </a:spcAft>
              <a:buNone/>
            </a:pPr>
            <a:r>
              <a:rPr sz="2000" b="0">
                <a:solidFill>
                  <a:srgbClr val="202433"/>
                </a:solidFill>
                <a:latin typeface="Microsoft YaHei"/>
                <a:ea typeface="Microsoft YaHei"/>
                <a:cs typeface="Microsoft YaHei"/>
              </a:rPr>
              <a:t>· ② </a:t>
            </a:r>
            <a:r>
              <a:rPr sz="2000" b="1">
                <a:solidFill>
                  <a:srgbClr val="3D5AFE"/>
                </a:solidFill>
                <a:latin typeface="Microsoft YaHei"/>
                <a:ea typeface="Microsoft YaHei"/>
                <a:cs typeface="Microsoft YaHei"/>
              </a:rPr>
              <a:t>真实机器人会自转、会移动</a:t>
            </a:r>
            <a:r>
              <a:rPr sz="2000" b="0">
                <a:solidFill>
                  <a:srgbClr val="202433"/>
                </a:solidFill>
                <a:latin typeface="Microsoft YaHei"/>
                <a:ea typeface="Microsoft YaHei"/>
                <a:cs typeface="Microsoft YaHei"/>
              </a:rPr>
              <a:t>，姿态千变万化 —— 需要用装甲板姿态反推它的旋转中心，才能预测它下一刻在哪</a:t>
            </a:r>
          </a:p>
          <a:p xmlns:a="http://schemas.openxmlformats.org/drawingml/2006/main">
            <a:pPr>
              <a:lnSpc>
                <a:spcPct val="118000"/>
              </a:lnSpc>
              <a:spcAft>
                <a:spcPts val="1000"/>
              </a:spcAft>
              <a:buNone/>
            </a:pPr>
            <a:r>
              <a:rPr sz="2000" b="0">
                <a:solidFill>
                  <a:srgbClr val="202433"/>
                </a:solidFill>
                <a:latin typeface="Microsoft YaHei"/>
                <a:ea typeface="Microsoft YaHei"/>
                <a:cs typeface="Microsoft YaHei"/>
              </a:rPr>
              <a:t>· 一句话：</a:t>
            </a:r>
            <a:r>
              <a:rPr sz="2000" b="1">
                <a:solidFill>
                  <a:srgbClr val="3D5AFE"/>
                </a:solidFill>
                <a:latin typeface="Microsoft YaHei"/>
                <a:ea typeface="Microsoft YaHei"/>
                <a:cs typeface="Microsoft YaHei"/>
              </a:rPr>
              <a:t>2D 检测解决“看见”，3D 位姿解决“打中”</a:t>
            </a:r>
          </a:p>
        </p:txBody>
      </p:sp>
      <p:sp>
        <p:nvSpPr>
          <p:cNvPr id="5" name="Rounded Rectangle 4">
            <a:extLst xmlns:a="http://schemas.openxmlformats.org/drawingml/2006/main">
              <a:ext uri="{FF2B5EF4-FFF2-40B4-BE49-F238E27FC236}">
                <a16:creationId xmlns:a16="http://schemas.microsoft.com/office/drawing/2014/main" id="{049FE778-5630-4F3A-8BAA-B46443A8E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5240" y="1737360"/>
            <a:ext cx="3977639" cy="393192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E7EBF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300" i="1">
                <a:solidFill>
                  <a:srgbClr val="5B6377"/>
                </a:solidFill>
                <a:latin typeface="Microsoft YaHei"/>
                <a:ea typeface="Microsoft YaHei"/>
                <a:cs typeface="Microsoft YaHei"/>
              </a:rPr>
              <a:t>🖼  相机与枪管不共轴示意图 +
机器人自转底盘照片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F09467E3-0CAA-4071-859B-0838768B1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73952"/>
            <a:ext cx="86868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000">
                <a:solidFill>
                  <a:srgbClr val="5B6377"/>
                </a:solidFill>
                <a:latin typeface="Consolas"/>
                <a:ea typeface="Consolas"/>
                <a:cs typeface="Consolas"/>
              </a:rPr>
              <a:t>Hello Armor · 装甲板位姿解算    P1 为什么需要位姿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1C1B078F-7C77-47A8-867C-8D6ED56D6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5680" y="6473952"/>
            <a:ext cx="59436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000">
                <a:solidFill>
                  <a:srgbClr val="5B6377"/>
                </a:solidFill>
                <a:latin typeface="Consolas"/>
                <a:ea typeface="Consolas"/>
                <a:cs typeface="Consolas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37316203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E16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70E748CD-CE8C-4AE5-955B-29C5DE73B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64592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C98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0DF4CE2A-D920-4658-828A-798C00A31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468880"/>
            <a:ext cx="2743200" cy="1280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6400" b="1">
                <a:solidFill>
                  <a:srgbClr val="14C98C"/>
                </a:solidFill>
                <a:latin typeface="Consolas"/>
                <a:ea typeface="Consolas"/>
                <a:cs typeface="Consolas"/>
              </a:rPr>
              <a:t>P2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CB616A98-561E-4706-B23E-CA7F6E1DB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1840" y="2697480"/>
            <a:ext cx="8229600" cy="1280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solidFill>
                  <a:srgbClr val="F3F5F9"/>
                </a:solidFill>
                <a:latin typeface="Microsoft YaHei"/>
                <a:ea typeface="Microsoft YaHei"/>
                <a:cs typeface="Microsoft YaHei"/>
              </a:rPr>
              <a:t>PnP 原理与 API</a:t>
            </a:r>
          </a:p>
          <a:p xmlns:a="http://schemas.openxmlformats.org/drawingml/2006/main">
            <a:r>
              <a:rPr sz="1800">
                <a:solidFill>
                  <a:srgbClr val="A9B4C9"/>
                </a:solidFill>
                <a:latin typeface="Microsoft YaHei"/>
                <a:ea typeface="Microsoft YaHei"/>
                <a:cs typeface="Microsoft YaHei"/>
              </a:rPr>
              <a:t>从对应点到位姿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44C19A53-64A0-4618-A281-930A2F2BB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73952"/>
            <a:ext cx="86868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000">
                <a:solidFill>
                  <a:srgbClr val="A9B4C9"/>
                </a:solidFill>
                <a:latin typeface="Consolas"/>
                <a:ea typeface="Consolas"/>
                <a:cs typeface="Consolas"/>
              </a:rPr>
              <a:t>Hello Armor · 装甲板位姿解算    P2 PnP 原理与 API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13488CC7-6AF7-4D75-AA5A-E59F79894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5680" y="6473952"/>
            <a:ext cx="59436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000">
                <a:solidFill>
                  <a:srgbClr val="A9B4C9"/>
                </a:solidFill>
                <a:latin typeface="Consolas"/>
                <a:ea typeface="Consolas"/>
                <a:cs typeface="Consolas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27365872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B6861965-CDE8-4FC8-B265-DFB2DD078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20040"/>
            <a:ext cx="73152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400" b="1">
                <a:solidFill>
                  <a:srgbClr val="14C98C"/>
                </a:solidFill>
                <a:latin typeface="Consolas"/>
                <a:ea typeface="Consolas"/>
                <a:cs typeface="Consolas"/>
              </a:rPr>
              <a:t>P2 · PnP 原理与 API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E75ED86D-A306-4583-B3F4-46C51A1F6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777240"/>
            <a:ext cx="1124712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3000" b="1">
                <a:solidFill>
                  <a:srgbClr val="202433"/>
                </a:solidFill>
                <a:latin typeface="Microsoft YaHei"/>
                <a:ea typeface="Microsoft YaHei"/>
                <a:cs typeface="Microsoft YaHei"/>
              </a:rPr>
              <a:t>Perspective-n-Points 问题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9E6AC4FF-AD9D-45EB-9D3C-0AAC0B3F6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691640"/>
            <a:ext cx="6858000" cy="44805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spcAft>
                <a:spcPts val="1000"/>
              </a:spcAft>
              <a:buNone/>
            </a:pPr>
            <a:r>
              <a:rPr sz="2000" b="0">
                <a:solidFill>
                  <a:srgbClr val="202433"/>
                </a:solidFill>
                <a:latin typeface="Microsoft YaHei"/>
                <a:ea typeface="Microsoft YaHei"/>
                <a:cs typeface="Microsoft YaHei"/>
              </a:rPr>
              <a:t>· 已知 n 组一一对应的点：</a:t>
            </a:r>
          </a:p>
          <a:p xmlns:a="http://schemas.openxmlformats.org/drawingml/2006/main">
            <a:pPr>
              <a:lnSpc>
                <a:spcPct val="118000"/>
              </a:lnSpc>
              <a:spcAft>
                <a:spcPts val="600"/>
              </a:spcAft>
              <a:buNone/>
            </a:pPr>
            <a:r>
              <a:rPr sz="1700" b="0">
                <a:solidFill>
                  <a:srgbClr val="202433"/>
                </a:solidFill>
                <a:latin typeface="Microsoft YaHei"/>
                <a:ea typeface="Microsoft YaHei"/>
                <a:cs typeface="Microsoft YaHei"/>
              </a:rPr>
              <a:t>      ‑ 装甲板局部坐标系中的 n 个三维点</a:t>
            </a:r>
          </a:p>
          <a:p xmlns:a="http://schemas.openxmlformats.org/drawingml/2006/main">
            <a:pPr>
              <a:lnSpc>
                <a:spcPct val="118000"/>
              </a:lnSpc>
              <a:spcAft>
                <a:spcPts val="600"/>
              </a:spcAft>
              <a:buNone/>
            </a:pPr>
            <a:r>
              <a:rPr sz="1700" b="0">
                <a:solidFill>
                  <a:srgbClr val="202433"/>
                </a:solidFill>
                <a:latin typeface="Microsoft YaHei"/>
                <a:ea typeface="Microsoft YaHei"/>
                <a:cs typeface="Microsoft YaHei"/>
              </a:rPr>
              <a:t>      ‑ 检测器给出的 n 个二维像素点</a:t>
            </a:r>
          </a:p>
          <a:p xmlns:a="http://schemas.openxmlformats.org/drawingml/2006/main">
            <a:pPr>
              <a:lnSpc>
                <a:spcPct val="118000"/>
              </a:lnSpc>
              <a:spcAft>
                <a:spcPts val="1000"/>
              </a:spcAft>
              <a:buNone/>
            </a:pPr>
            <a:r>
              <a:rPr sz="2000" b="0">
                <a:solidFill>
                  <a:srgbClr val="202433"/>
                </a:solidFill>
                <a:latin typeface="Microsoft YaHei"/>
                <a:ea typeface="Microsoft YaHei"/>
                <a:cs typeface="Microsoft YaHei"/>
              </a:rPr>
              <a:t>· 输入还必须包含当前镜头、当前分辨率对应的内参和畸变系数</a:t>
            </a:r>
          </a:p>
          <a:p xmlns:a="http://schemas.openxmlformats.org/drawingml/2006/main">
            <a:pPr>
              <a:lnSpc>
                <a:spcPct val="118000"/>
              </a:lnSpc>
              <a:spcAft>
                <a:spcPts val="1000"/>
              </a:spcAft>
              <a:buNone/>
            </a:pPr>
            <a:r>
              <a:rPr sz="2000" b="0">
                <a:solidFill>
                  <a:srgbClr val="202433"/>
                </a:solidFill>
                <a:latin typeface="Microsoft YaHei"/>
                <a:ea typeface="Microsoft YaHei"/>
                <a:cs typeface="Microsoft YaHei"/>
              </a:rPr>
              <a:t>· 求解满足 X_camera = R · X_armor + t 的旋转 R 和平移 t</a:t>
            </a:r>
          </a:p>
          <a:p xmlns:a="http://schemas.openxmlformats.org/drawingml/2006/main">
            <a:pPr>
              <a:lnSpc>
                <a:spcPct val="118000"/>
              </a:lnSpc>
              <a:spcAft>
                <a:spcPts val="1000"/>
              </a:spcAft>
              <a:buNone/>
            </a:pPr>
            <a:r>
              <a:rPr sz="2000" b="0">
                <a:solidFill>
                  <a:srgbClr val="202433"/>
                </a:solidFill>
                <a:latin typeface="Microsoft YaHei"/>
                <a:ea typeface="Microsoft YaHei"/>
                <a:cs typeface="Microsoft YaHei"/>
              </a:rPr>
              <a:t>· 本课视频固定为 1280 × 1024，换分辨率后必须重新标定</a:t>
            </a:r>
          </a:p>
        </p:txBody>
      </p:sp>
      <p:sp>
        <p:nvSpPr>
          <p:cNvPr id="5" name="Rounded Rectangle 4">
            <a:extLst xmlns:a="http://schemas.openxmlformats.org/drawingml/2006/main">
              <a:ext uri="{FF2B5EF4-FFF2-40B4-BE49-F238E27FC236}">
                <a16:creationId xmlns:a16="http://schemas.microsoft.com/office/drawing/2014/main" id="{08F346B8-CBC1-40DA-8378-F47663E95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5240" y="1737360"/>
            <a:ext cx="3977639" cy="393192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E7EBF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300" i="1">
                <a:solidFill>
                  <a:srgbClr val="5B6377"/>
                </a:solidFill>
                <a:latin typeface="Microsoft YaHei"/>
                <a:ea typeface="Microsoft YaHei"/>
                <a:cs typeface="Microsoft YaHei"/>
              </a:rPr>
              <a:t>🖼  经典 PnP 示意图：
世界坐标系 3D 点 → 图像平面 2D 点
(R, t) 箭头连接两个坐标系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8F686220-18A3-432D-B7D9-ADCA4B171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73952"/>
            <a:ext cx="86868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000">
                <a:solidFill>
                  <a:srgbClr val="5B6377"/>
                </a:solidFill>
                <a:latin typeface="Consolas"/>
                <a:ea typeface="Consolas"/>
                <a:cs typeface="Consolas"/>
              </a:rPr>
              <a:t>Hello Armor · 装甲板位姿解算    P2 PnP 原理与 API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2739EE11-A6DF-410C-A402-D91DB3404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5680" y="6473952"/>
            <a:ext cx="59436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000">
                <a:solidFill>
                  <a:srgbClr val="5B6377"/>
                </a:solidFill>
                <a:latin typeface="Consolas"/>
                <a:ea typeface="Consolas"/>
                <a:cs typeface="Consolas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690481765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2CF62528-7900-4A2B-A237-868AC8590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20040"/>
            <a:ext cx="73152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400" b="1">
                <a:solidFill>
                  <a:srgbClr val="14C98C"/>
                </a:solidFill>
                <a:latin typeface="Consolas"/>
                <a:ea typeface="Consolas"/>
                <a:cs typeface="Consolas"/>
              </a:rPr>
              <a:t>P2 · PnP 原理与 API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AAAA6620-4FCD-4D93-8051-A90E2392A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777240"/>
            <a:ext cx="1124712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3000" b="1">
                <a:solidFill>
                  <a:srgbClr val="202433"/>
                </a:solidFill>
                <a:latin typeface="Microsoft YaHei"/>
                <a:ea typeface="Microsoft YaHei"/>
                <a:cs typeface="Microsoft YaHei"/>
              </a:rPr>
              <a:t>cv::solvePnP 函数签名精讲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2E7AD20F-875F-4E4D-A589-33B3D286E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600200"/>
            <a:ext cx="11064240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spcAft>
                <a:spcPts val="1000"/>
              </a:spcAft>
              <a:buNone/>
            </a:pPr>
            <a:r>
              <a:rPr sz="1600" b="0">
                <a:solidFill>
                  <a:srgbClr val="202433"/>
                </a:solidFill>
                <a:latin typeface="Microsoft YaHei"/>
                <a:ea typeface="Microsoft YaHei"/>
                <a:cs typeface="Microsoft YaHei"/>
              </a:rPr>
              <a:t>· OpenCV 已经把 PnP 问题的求解封装成了一个函数，我们只管“喂数据”：</a:t>
            </a:r>
          </a:p>
        </p:txBody>
      </p:sp>
      <p:sp>
        <p:nvSpPr>
          <p:cNvPr id="5" name="Rounded Rectangle 4">
            <a:extLst xmlns:a="http://schemas.openxmlformats.org/drawingml/2006/main">
              <a:ext uri="{FF2B5EF4-FFF2-40B4-BE49-F238E27FC236}">
                <a16:creationId xmlns:a16="http://schemas.microsoft.com/office/drawing/2014/main" id="{0A8EAA8D-27D2-42D6-BB04-ECA0403F9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514600"/>
            <a:ext cx="11109960" cy="283464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1E1E1E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201168" tIns="146304" rIns="164592" bIns="146304" anchor="ctr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</a:pPr>
            <a:r>
              <a:rPr sz="135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bool cv::solvePnP(</a:t>
            </a:r>
          </a:p>
          <a:p xmlns:a="http://schemas.openxmlformats.org/drawingml/2006/main">
            <a:pPr>
              <a:lnSpc>
                <a:spcPct val="105000"/>
              </a:lnSpc>
              <a:buNone/>
            </a:pPr>
            <a:r>
              <a:rPr sz="135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   InputArray  objectPoints,   // 输入：物体局部坐标系下的 n 个点</a:t>
            </a:r>
          </a:p>
          <a:p xmlns:a="http://schemas.openxmlformats.org/drawingml/2006/main">
            <a:pPr>
              <a:lnSpc>
                <a:spcPct val="105000"/>
              </a:lnSpc>
              <a:buNone/>
            </a:pPr>
            <a:r>
              <a:rPr sz="135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   InputArray  imagePoints,    // 输入：图像上对应的 n 个点</a:t>
            </a:r>
          </a:p>
          <a:p xmlns:a="http://schemas.openxmlformats.org/drawingml/2006/main">
            <a:pPr>
              <a:lnSpc>
                <a:spcPct val="105000"/>
              </a:lnSpc>
              <a:buNone/>
            </a:pPr>
            <a:r>
              <a:rPr sz="135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   InputArray  cameraMatrix,   // 输入：相机内参矩阵（我们会提供）</a:t>
            </a:r>
          </a:p>
          <a:p xmlns:a="http://schemas.openxmlformats.org/drawingml/2006/main">
            <a:pPr>
              <a:lnSpc>
                <a:spcPct val="105000"/>
              </a:lnSpc>
              <a:buNone/>
            </a:pPr>
            <a:r>
              <a:rPr sz="135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   InputArray  distCoeffs,     // 输入：畸变系数（我们会提供）</a:t>
            </a:r>
          </a:p>
          <a:p xmlns:a="http://schemas.openxmlformats.org/drawingml/2006/main">
            <a:pPr>
              <a:lnSpc>
                <a:spcPct val="105000"/>
              </a:lnSpc>
              <a:buNone/>
            </a:pPr>
            <a:r>
              <a:rPr sz="135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   OutputArray rvec,           // 输出：旋转向量</a:t>
            </a:r>
          </a:p>
          <a:p xmlns:a="http://schemas.openxmlformats.org/drawingml/2006/main">
            <a:pPr>
              <a:lnSpc>
                <a:spcPct val="105000"/>
              </a:lnSpc>
              <a:buNone/>
            </a:pPr>
            <a:r>
              <a:rPr sz="135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   OutputArray tvec,           // 输出：平移向量</a:t>
            </a:r>
          </a:p>
          <a:p xmlns:a="http://schemas.openxmlformats.org/drawingml/2006/main">
            <a:pPr>
              <a:lnSpc>
                <a:spcPct val="105000"/>
              </a:lnSpc>
              <a:buNone/>
            </a:pPr>
            <a:r>
              <a:rPr sz="135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   bool useExtrinsicGuess = false,</a:t>
            </a:r>
          </a:p>
          <a:p xmlns:a="http://schemas.openxmlformats.org/drawingml/2006/main">
            <a:pPr>
              <a:lnSpc>
                <a:spcPct val="105000"/>
              </a:lnSpc>
              <a:buNone/>
            </a:pPr>
            <a:r>
              <a:rPr sz="135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   int  flags = SOLVEPNP_ITERATIVE</a:t>
            </a:r>
          </a:p>
          <a:p xmlns:a="http://schemas.openxmlformats.org/drawingml/2006/main">
            <a:pPr>
              <a:lnSpc>
                <a:spcPct val="105000"/>
              </a:lnSpc>
              <a:buNone/>
            </a:pPr>
            <a:r>
              <a:rPr sz="135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);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A04E2113-1EEF-44A2-A5D8-D09D0535A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73952"/>
            <a:ext cx="86868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000">
                <a:solidFill>
                  <a:srgbClr val="5B6377"/>
                </a:solidFill>
                <a:latin typeface="Consolas"/>
                <a:ea typeface="Consolas"/>
                <a:cs typeface="Consolas"/>
              </a:rPr>
              <a:t>Hello Armor · 装甲板位姿解算    P2 PnP 原理与 API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26D14316-F139-4774-A5D9-A3606B88B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5680" y="6473952"/>
            <a:ext cx="59436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000">
                <a:solidFill>
                  <a:srgbClr val="5B6377"/>
                </a:solidFill>
                <a:latin typeface="Consolas"/>
                <a:ea typeface="Consolas"/>
                <a:cs typeface="Consolas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2081947196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D8518D66-2D80-41BB-8BDE-94389E0D6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20040"/>
            <a:ext cx="73152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400" b="1">
                <a:solidFill>
                  <a:srgbClr val="14C98C"/>
                </a:solidFill>
                <a:latin typeface="Consolas"/>
                <a:ea typeface="Consolas"/>
                <a:cs typeface="Consolas"/>
              </a:rPr>
              <a:t>P2 · PnP 原理与 API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9B0C65DB-8841-45D6-895D-50185F0CF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777240"/>
            <a:ext cx="1124712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3000" b="1">
                <a:solidFill>
                  <a:srgbClr val="202433"/>
                </a:solidFill>
                <a:latin typeface="Microsoft YaHei"/>
                <a:ea typeface="Microsoft YaHei"/>
                <a:cs typeface="Microsoft YaHei"/>
              </a:rPr>
              <a:t>输出到底是什么？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43408400-3D3C-44FE-B678-A8E6167AA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691640"/>
            <a:ext cx="6858000" cy="44805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spcAft>
                <a:spcPts val="1000"/>
              </a:spcAft>
              <a:buNone/>
            </a:pPr>
            <a:r>
              <a:rPr sz="2000" b="0">
                <a:solidFill>
                  <a:srgbClr val="202433"/>
                </a:solidFill>
                <a:latin typeface="Microsoft YaHei"/>
                <a:ea typeface="Microsoft YaHei"/>
                <a:cs typeface="Microsoft YaHei"/>
              </a:rPr>
              <a:t>· tvec：装甲板局部原点在相机坐标系下的位置。本课把原点放在板中心，因此可看作目标中心位置。</a:t>
            </a:r>
          </a:p>
          <a:p xmlns:a="http://schemas.openxmlformats.org/drawingml/2006/main">
            <a:pPr>
              <a:lnSpc>
                <a:spcPct val="118000"/>
              </a:lnSpc>
              <a:spcAft>
                <a:spcPts val="1000"/>
              </a:spcAft>
              <a:buNone/>
            </a:pPr>
            <a:r>
              <a:rPr sz="2000" b="0">
                <a:solidFill>
                  <a:srgbClr val="202433"/>
                </a:solidFill>
                <a:latin typeface="Microsoft YaHei"/>
                <a:ea typeface="Microsoft YaHei"/>
                <a:cs typeface="Microsoft YaHei"/>
              </a:rPr>
              <a:t>· rvec：旋转向量，方向表示旋转轴，模长表示旋转角度，单位为弧度。</a:t>
            </a:r>
          </a:p>
          <a:p xmlns:a="http://schemas.openxmlformats.org/drawingml/2006/main">
            <a:pPr>
              <a:lnSpc>
                <a:spcPct val="118000"/>
              </a:lnSpc>
              <a:spcAft>
                <a:spcPts val="1000"/>
              </a:spcAft>
              <a:buNone/>
            </a:pPr>
            <a:r>
              <a:rPr sz="2000" b="0">
                <a:solidFill>
                  <a:srgbClr val="202433"/>
                </a:solidFill>
                <a:latin typeface="Microsoft YaHei"/>
                <a:ea typeface="Microsoft YaHei"/>
                <a:cs typeface="Microsoft YaHei"/>
              </a:rPr>
              <a:t>· Task 05 用 tvec 计算距离和相机指向目标的 yaw/pitch。装甲板自身的欧拉角留作进阶任务。</a:t>
            </a:r>
          </a:p>
        </p:txBody>
      </p:sp>
      <p:sp>
        <p:nvSpPr>
          <p:cNvPr id="5" name="Rounded Rectangle 4">
            <a:extLst xmlns:a="http://schemas.openxmlformats.org/drawingml/2006/main">
              <a:ext uri="{FF2B5EF4-FFF2-40B4-BE49-F238E27FC236}">
                <a16:creationId xmlns:a16="http://schemas.microsoft.com/office/drawing/2014/main" id="{735ECB70-9511-493C-B899-42AD192C5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5240" y="1737360"/>
            <a:ext cx="3977639" cy="393192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E7EBF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300" i="1">
                <a:solidFill>
                  <a:srgbClr val="5B6377"/>
                </a:solidFill>
                <a:latin typeface="Microsoft YaHei"/>
                <a:ea typeface="Microsoft YaHei"/>
                <a:cs typeface="Microsoft YaHei"/>
              </a:rPr>
              <a:t>🖼  装甲板坐标轴照片 + 相机坐标轴照片
（并排对比）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1187CD6F-C151-456A-A70C-9A7DC49CD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73952"/>
            <a:ext cx="86868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000">
                <a:solidFill>
                  <a:srgbClr val="5B6377"/>
                </a:solidFill>
                <a:latin typeface="Consolas"/>
                <a:ea typeface="Consolas"/>
                <a:cs typeface="Consolas"/>
              </a:rPr>
              <a:t>Hello Armor · 装甲板位姿解算    P2 PnP 原理与 API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70532DAD-68C2-4121-AAC7-BB367BDD6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5680" y="6473952"/>
            <a:ext cx="59436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000">
                <a:solidFill>
                  <a:srgbClr val="5B6377"/>
                </a:solidFill>
                <a:latin typeface="Consolas"/>
                <a:ea typeface="Consolas"/>
                <a:cs typeface="Consolas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2114379349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0E16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E052AD6E-C05F-4B62-A7D8-F1DF586CE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64592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C98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39AC1373-54CD-4E0F-8BB6-9FD24FA64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468880"/>
            <a:ext cx="2743200" cy="1280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6400" b="1">
                <a:solidFill>
                  <a:srgbClr val="14C98C"/>
                </a:solidFill>
                <a:latin typeface="Consolas"/>
                <a:ea typeface="Consolas"/>
                <a:cs typeface="Consolas"/>
              </a:rPr>
              <a:t>P3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2B1E4226-E6E0-4B29-922B-4DD9BCFBB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1840" y="2697480"/>
            <a:ext cx="8229600" cy="1280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solidFill>
                  <a:srgbClr val="F3F5F9"/>
                </a:solidFill>
                <a:latin typeface="Microsoft YaHei"/>
                <a:ea typeface="Microsoft YaHei"/>
                <a:cs typeface="Microsoft YaHei"/>
              </a:rPr>
              <a:t>动手实验一</a:t>
            </a:r>
          </a:p>
          <a:p xmlns:a="http://schemas.openxmlformats.org/drawingml/2006/main">
            <a:r>
              <a:rPr sz="1800">
                <a:solidFill>
                  <a:srgbClr val="A9B4C9"/>
                </a:solidFill>
                <a:latin typeface="Microsoft YaHei"/>
                <a:ea typeface="Microsoft YaHei"/>
                <a:cs typeface="Microsoft YaHei"/>
              </a:rPr>
              <a:t>Task 01~03：解出 tvec / rvec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292255B6-599D-42BF-A22A-520C658FF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73952"/>
            <a:ext cx="86868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000">
                <a:solidFill>
                  <a:srgbClr val="A9B4C9"/>
                </a:solidFill>
                <a:latin typeface="Consolas"/>
                <a:ea typeface="Consolas"/>
                <a:cs typeface="Consolas"/>
              </a:rPr>
              <a:t>Hello Armor · 装甲板位姿解算    P3 动手实验一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2BD8603A-A969-4CB0-847A-2B7CD702A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5680" y="6473952"/>
            <a:ext cx="59436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000">
                <a:solidFill>
                  <a:srgbClr val="A9B4C9"/>
                </a:solidFill>
                <a:latin typeface="Consolas"/>
                <a:ea typeface="Consolas"/>
                <a:cs typeface="Consolas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751205725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6FDFC78F-A2C6-44F7-A067-4EAB07F79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20040"/>
            <a:ext cx="73152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400" b="1">
                <a:solidFill>
                  <a:srgbClr val="14C98C"/>
                </a:solidFill>
                <a:latin typeface="Consolas"/>
                <a:ea typeface="Consolas"/>
                <a:cs typeface="Consolas"/>
              </a:rPr>
              <a:t>P3 · 动手实验一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88C71328-B35E-4C01-B7D9-AB0A2806E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777240"/>
            <a:ext cx="1124712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3000" b="1">
                <a:solidFill>
                  <a:srgbClr val="202433"/>
                </a:solidFill>
                <a:latin typeface="Microsoft YaHei"/>
                <a:ea typeface="Microsoft YaHei"/>
                <a:cs typeface="Microsoft YaHei"/>
              </a:rPr>
              <a:t>实验环境 &amp; 点位约定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231F3BBF-7C73-4719-8E6D-5C82A1E36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691640"/>
            <a:ext cx="6858000" cy="44805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spcAft>
                <a:spcPts val="1000"/>
              </a:spcAft>
              <a:buNone/>
            </a:pPr>
            <a:r>
              <a:rPr sz="2000" b="0">
                <a:solidFill>
                  <a:srgbClr val="202433"/>
                </a:solidFill>
                <a:latin typeface="Microsoft YaHei"/>
                <a:ea typeface="Microsoft YaHei"/>
                <a:cs typeface="Microsoft YaHei"/>
              </a:rPr>
              <a:t>· 学生只修改两个文件：`class/src/main.cpp` 和 `class/tasks/pose_solver.cpp`。</a:t>
            </a:r>
          </a:p>
          <a:p xmlns:a="http://schemas.openxmlformats.org/drawingml/2006/main">
            <a:pPr>
              <a:lnSpc>
                <a:spcPct val="118000"/>
              </a:lnSpc>
              <a:spcAft>
                <a:spcPts val="1000"/>
              </a:spcAft>
              <a:buNone/>
            </a:pPr>
            <a:r>
              <a:rPr sz="2000" b="0">
                <a:solidFill>
                  <a:srgbClr val="202433"/>
                </a:solidFill>
                <a:latin typeface="Microsoft YaHei"/>
                <a:ea typeface="Microsoft YaHei"/>
                <a:cs typeface="Microsoft YaHei"/>
              </a:rPr>
              <a:t>· CMake 会自动把 `video.avi` 和 `tiny_resnet.onnx` 复制到 `build/`，可从 build 目录直接运行。</a:t>
            </a:r>
          </a:p>
          <a:p xmlns:a="http://schemas.openxmlformats.org/drawingml/2006/main">
            <a:pPr>
              <a:lnSpc>
                <a:spcPct val="118000"/>
              </a:lnSpc>
              <a:spcAft>
                <a:spcPts val="600"/>
              </a:spcAft>
              <a:buNone/>
            </a:pPr>
            <a:r>
              <a:rPr sz="1700" b="0">
                <a:solidFill>
                  <a:srgbClr val="202433"/>
                </a:solidFill>
                <a:latin typeface="Microsoft YaHei"/>
                <a:ea typeface="Microsoft YaHei"/>
                <a:cs typeface="Microsoft YaHei"/>
              </a:rPr>
              <a:t>· 点序固定为左上、右上、右下、左下。Task 01 的 3D 点和 Task 02 的 2D 点必须完全一一对应。</a:t>
            </a:r>
          </a:p>
          <a:p xmlns:a="http://schemas.openxmlformats.org/drawingml/2006/main">
            <a:pPr>
              <a:lnSpc>
                <a:spcPct val="118000"/>
              </a:lnSpc>
              <a:spcAft>
                <a:spcPts val="1000"/>
              </a:spcAft>
              <a:buNone/>
            </a:pPr>
            <a:r>
              <a:rPr sz="2000" b="0">
                <a:solidFill>
                  <a:srgbClr val="202433"/>
                </a:solidFill>
                <a:latin typeface="Microsoft YaHei"/>
                <a:ea typeface="Microsoft YaHei"/>
                <a:cs typeface="Microsoft YaHei"/>
              </a:rPr>
              <a:t>· 红色 O 点是检测结果，绿色 P 点是重投影结果。两者不重合时，先检查点序和相机标定。</a:t>
            </a:r>
          </a:p>
        </p:txBody>
      </p:sp>
      <p:sp>
        <p:nvSpPr>
          <p:cNvPr id="5" name="Rounded Rectangle 4">
            <a:extLst xmlns:a="http://schemas.openxmlformats.org/drawingml/2006/main">
              <a:ext uri="{FF2B5EF4-FFF2-40B4-BE49-F238E27FC236}">
                <a16:creationId xmlns:a16="http://schemas.microsoft.com/office/drawing/2014/main" id="{42451FA9-A97B-4118-B46F-1498699D8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5240" y="1737360"/>
            <a:ext cx="3977639" cy="393192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E7EBF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300" i="1">
                <a:solidFill>
                  <a:srgbClr val="5B6377"/>
                </a:solidFill>
                <a:latin typeface="Microsoft YaHei"/>
                <a:ea typeface="Microsoft YaHei"/>
                <a:cs typeface="Microsoft YaHei"/>
              </a:rPr>
              <a:t>🖼  实物装甲板照片，
绿点标注 1/2/3/4 号点位置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03B8F876-F3A9-403A-8658-FFEB2C201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73952"/>
            <a:ext cx="86868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000">
                <a:solidFill>
                  <a:srgbClr val="5B6377"/>
                </a:solidFill>
                <a:latin typeface="Consolas"/>
                <a:ea typeface="Consolas"/>
                <a:cs typeface="Consolas"/>
              </a:rPr>
              <a:t>Hello Armor · 装甲板位姿解算    P3 动手实验一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AA9C0AC8-5573-4E80-9074-2C642AC76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5680" y="6473952"/>
            <a:ext cx="59436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000">
                <a:solidFill>
                  <a:srgbClr val="5B6377"/>
                </a:solidFill>
                <a:latin typeface="Consolas"/>
                <a:ea typeface="Consolas"/>
                <a:cs typeface="Consolas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1575173774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74A29F04-4CE0-440D-9513-3A87B92C3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20040"/>
            <a:ext cx="73152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400" b="1">
                <a:solidFill>
                  <a:srgbClr val="14C98C"/>
                </a:solidFill>
                <a:latin typeface="Consolas"/>
                <a:ea typeface="Consolas"/>
                <a:cs typeface="Consolas"/>
              </a:rPr>
              <a:t>P3 · 动手实验一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7A377303-9E46-4F71-A02F-6B7082A6B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777240"/>
            <a:ext cx="1124712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3000" b="1">
                <a:solidFill>
                  <a:srgbClr val="202433"/>
                </a:solidFill>
                <a:latin typeface="Microsoft YaHei"/>
                <a:ea typeface="Microsoft YaHei"/>
                <a:cs typeface="Microsoft YaHei"/>
              </a:rPr>
              <a:t>Task 01 · 装甲板局部坐标系的 3D 点</a:t>
            </a:r>
          </a:p>
        </p:txBody>
      </p:sp>
      <p:sp>
        <p:nvSpPr>
          <p:cNvPr id="4" name="Rounded Rectangle 3">
            <a:extLst xmlns:a="http://schemas.openxmlformats.org/drawingml/2006/main">
              <a:ext uri="{FF2B5EF4-FFF2-40B4-BE49-F238E27FC236}">
                <a16:creationId xmlns:a16="http://schemas.microsoft.com/office/drawing/2014/main" id="{A41D72FB-93E8-403D-A9B7-2868A8526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6960" y="502920"/>
            <a:ext cx="1737360" cy="384048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E06A3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TASK 01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FDB95012-D362-4DF9-8774-B187BD6D7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600200"/>
            <a:ext cx="11064240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spcAft>
                <a:spcPts val="1000"/>
              </a:spcAft>
              <a:buNone/>
            </a:pPr>
            <a:r>
              <a:rPr sz="1600" b="0">
                <a:solidFill>
                  <a:srgbClr val="202433"/>
                </a:solidFill>
                <a:latin typeface="Microsoft YaHei"/>
                <a:ea typeface="Microsoft YaHei"/>
                <a:cs typeface="Microsoft YaHei"/>
              </a:rPr>
              <a:t>· 在 `class/tasks/pose_solver.cpp` 的 `object_points()` 中填写四个灯条端点。小装甲板的灯条中心间距为 0.135 m，灯条长度为 0.056 m。</a:t>
            </a:r>
          </a:p>
        </p:txBody>
      </p:sp>
      <p:sp>
        <p:nvSpPr>
          <p:cNvPr id="6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B9C96BB3-8105-493F-8C3A-0A3BD2BDC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514600"/>
            <a:ext cx="11109960" cy="306324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1E1E1E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201168" tIns="146304" rIns="164592" bIns="146304" anchor="ctr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</a:pPr>
            <a:r>
              <a:rPr sz="135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// class/tasks/pose_solver.cpp</a:t>
            </a:r>
          </a:p>
          <a:p xmlns:a="http://schemas.openxmlformats.org/drawingml/2006/main">
            <a:pPr>
              <a:lnSpc>
                <a:spcPct val="105000"/>
              </a:lnSpc>
              <a:buNone/>
            </a:pPr>
            <a:r>
              <a:rPr sz="135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// #### Task 01 ####################################</a:t>
            </a:r>
          </a:p>
          <a:p xmlns:a="http://schemas.openxmlformats.org/drawingml/2006/main">
            <a:pPr>
              <a:lnSpc>
                <a:spcPct val="105000"/>
              </a:lnSpc>
              <a:buNone/>
            </a:pPr>
            <a:r>
              <a:rPr sz="135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const float half_width =</a:t>
            </a:r>
          </a:p>
          <a:p xmlns:a="http://schemas.openxmlformats.org/drawingml/2006/main">
            <a:pPr>
              <a:lnSpc>
                <a:spcPct val="105000"/>
              </a:lnSpc>
              <a:buNone/>
            </a:pPr>
            <a:r>
              <a:rPr sz="1350">
                <a:solidFill>
                  <a:srgbClr val="6A9955"/>
                </a:solidFill>
                <a:latin typeface="Consolas"/>
                <a:ea typeface="Consolas"/>
                <a:cs typeface="Consolas"/>
              </a:rPr>
              <a:t>    kSmallArmorLightbarDistanceM / 2.0F;</a:t>
            </a:r>
          </a:p>
          <a:p xmlns:a="http://schemas.openxmlformats.org/drawingml/2006/main">
            <a:pPr>
              <a:lnSpc>
                <a:spcPct val="105000"/>
              </a:lnSpc>
              <a:buNone/>
            </a:pPr>
            <a:r>
              <a:rPr sz="1350">
                <a:solidFill>
                  <a:srgbClr val="6A9955"/>
                </a:solidFill>
                <a:latin typeface="Consolas"/>
                <a:ea typeface="Consolas"/>
                <a:cs typeface="Consolas"/>
              </a:rPr>
              <a:t>const float half_height = kLightbarLengthM / 2.0F;</a:t>
            </a:r>
          </a:p>
          <a:p xmlns:a="http://schemas.openxmlformats.org/drawingml/2006/main">
            <a:pPr>
              <a:lnSpc>
                <a:spcPct val="105000"/>
              </a:lnSpc>
              <a:buNone/>
            </a:pPr>
            <a:r>
              <a:rPr sz="1350">
                <a:solidFill>
                  <a:srgbClr val="6A9955"/>
                </a:solidFill>
                <a:latin typeface="Consolas"/>
                <a:ea typeface="Consolas"/>
                <a:cs typeface="Consolas"/>
              </a:rPr>
              <a:t>return {</a:t>
            </a:r>
          </a:p>
          <a:p xmlns:a="http://schemas.openxmlformats.org/drawingml/2006/main">
            <a:pPr>
              <a:lnSpc>
                <a:spcPct val="105000"/>
              </a:lnSpc>
              <a:buNone/>
            </a:pPr>
            <a:r>
              <a:rPr sz="135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   {           ,            , 0.0F},  // 左上</a:t>
            </a:r>
          </a:p>
          <a:p xmlns:a="http://schemas.openxmlformats.org/drawingml/2006/main">
            <a:pPr>
              <a:lnSpc>
                <a:spcPct val="105000"/>
              </a:lnSpc>
              <a:buNone/>
            </a:pPr>
            <a:r>
              <a:rPr sz="135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   {           ,            , 0.0F},  // 右上</a:t>
            </a:r>
          </a:p>
          <a:p xmlns:a="http://schemas.openxmlformats.org/drawingml/2006/main">
            <a:pPr>
              <a:lnSpc>
                <a:spcPct val="105000"/>
              </a:lnSpc>
              <a:buNone/>
            </a:pPr>
            <a:r>
              <a:rPr sz="135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   {           ,            , 0.0F},  // 右下</a:t>
            </a:r>
          </a:p>
          <a:p xmlns:a="http://schemas.openxmlformats.org/drawingml/2006/main">
            <a:pPr>
              <a:lnSpc>
                <a:spcPct val="105000"/>
              </a:lnSpc>
              <a:buNone/>
            </a:pPr>
            <a:r>
              <a:rPr sz="135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   {           ,            , 0.0F},  // 左下</a:t>
            </a:r>
          </a:p>
          <a:p xmlns:a="http://schemas.openxmlformats.org/drawingml/2006/main">
            <a:pPr>
              <a:lnSpc>
                <a:spcPct val="105000"/>
              </a:lnSpc>
              <a:buNone/>
            </a:pPr>
            <a:r>
              <a:rPr sz="135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};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0A2D90DB-EF44-46F0-9E68-BD1C79A5B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687568"/>
            <a:ext cx="11064240" cy="1097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spcAft>
                <a:spcPts val="1000"/>
              </a:spcAft>
              <a:buNone/>
            </a:pPr>
            <a:r>
              <a:rPr sz="1400" b="0">
                <a:solidFill>
                  <a:srgbClr val="5B6377"/>
                </a:solidFill>
                <a:latin typeface="Microsoft YaHei"/>
                <a:ea typeface="Microsoft YaHei"/>
                <a:cs typeface="Microsoft YaHei"/>
              </a:rPr>
              <a:t>· 提示：局部原点在板中心，x 向右、y 向下、z 垂直板面。四个点都在 z = 0 平面上。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B84129F2-D14A-46C8-8359-FAD8F7B7C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73952"/>
            <a:ext cx="86868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000">
                <a:solidFill>
                  <a:srgbClr val="5B6377"/>
                </a:solidFill>
                <a:latin typeface="Consolas"/>
                <a:ea typeface="Consolas"/>
                <a:cs typeface="Consolas"/>
              </a:rPr>
              <a:t>Hello Armor · 装甲板位姿解算    P3 动手实验一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76D75EA0-957F-4EC0-A542-A43CA1C34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5680" y="6473952"/>
            <a:ext cx="59436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000">
                <a:solidFill>
                  <a:srgbClr val="5B6377"/>
                </a:solidFill>
                <a:latin typeface="Consolas"/>
                <a:ea typeface="Consolas"/>
                <a:cs typeface="Consolas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1278619496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44DA8383-4D0A-47CE-BFEE-4D635D260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20040"/>
            <a:ext cx="73152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400" b="1">
                <a:solidFill>
                  <a:srgbClr val="14C98C"/>
                </a:solidFill>
                <a:latin typeface="Consolas"/>
                <a:ea typeface="Consolas"/>
                <a:cs typeface="Consolas"/>
              </a:rPr>
              <a:t>P3 · 动手实验一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D42E51BB-E501-4F2D-BE38-C11527B30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777240"/>
            <a:ext cx="1124712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3000" b="1">
                <a:solidFill>
                  <a:srgbClr val="202433"/>
                </a:solidFill>
                <a:latin typeface="Microsoft YaHei"/>
                <a:ea typeface="Microsoft YaHei"/>
                <a:cs typeface="Microsoft YaHei"/>
              </a:rPr>
              <a:t>Task 02 · 构造 2D 像素点</a:t>
            </a:r>
          </a:p>
        </p:txBody>
      </p:sp>
      <p:sp>
        <p:nvSpPr>
          <p:cNvPr id="4" name="Rounded Rectangle 3">
            <a:extLst xmlns:a="http://schemas.openxmlformats.org/drawingml/2006/main">
              <a:ext uri="{FF2B5EF4-FFF2-40B4-BE49-F238E27FC236}">
                <a16:creationId xmlns:a16="http://schemas.microsoft.com/office/drawing/2014/main" id="{10687BDE-29DB-40F8-A15F-270B5C988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6960" y="502920"/>
            <a:ext cx="1737360" cy="384048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E06A3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TASK 02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DAECB3E3-EF4A-46C0-B4C8-330A3C4F6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600200"/>
            <a:ext cx="11064240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spcAft>
                <a:spcPts val="1000"/>
              </a:spcAft>
              <a:buNone/>
            </a:pPr>
            <a:r>
              <a:rPr sz="1600" b="0">
                <a:solidFill>
                  <a:srgbClr val="202433"/>
                </a:solidFill>
                <a:latin typeface="Microsoft YaHei"/>
                <a:ea typeface="Microsoft YaHei"/>
                <a:cs typeface="Microsoft YaHei"/>
              </a:rPr>
              <a:t>· 在 `class/src/main.cpp` 中把检测器给出的四个端点按左上、右上、右下、左下顺序存入 `image_points`。</a:t>
            </a:r>
          </a:p>
        </p:txBody>
      </p:sp>
      <p:sp>
        <p:nvSpPr>
          <p:cNvPr id="6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B6FC7BB3-DE39-4186-9591-D77D041C0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514600"/>
            <a:ext cx="11109960" cy="306324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1E1E1E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201168" tIns="146304" rIns="164592" bIns="146304" anchor="ctr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</a:pPr>
            <a:r>
              <a:rPr sz="135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// class/src/main.cpp</a:t>
            </a:r>
          </a:p>
          <a:p xmlns:a="http://schemas.openxmlformats.org/drawingml/2006/main">
            <a:pPr>
              <a:lnSpc>
                <a:spcPct val="105000"/>
              </a:lnSpc>
              <a:buNone/>
            </a:pPr>
            <a:r>
              <a:rPr sz="135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// #### Task 02 ####################################</a:t>
            </a:r>
          </a:p>
          <a:p xmlns:a="http://schemas.openxmlformats.org/drawingml/2006/main">
            <a:pPr>
              <a:lnSpc>
                <a:spcPct val="105000"/>
              </a:lnSpc>
              <a:buNone/>
            </a:pPr>
            <a:r>
              <a:rPr sz="135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const std::vector&lt;cv::Point2f&gt; image_points{</a:t>
            </a:r>
          </a:p>
          <a:p xmlns:a="http://schemas.openxmlformats.org/drawingml/2006/main">
            <a:pPr>
              <a:lnSpc>
                <a:spcPct val="105000"/>
              </a:lnSpc>
              <a:buNone/>
            </a:pPr>
            <a:r>
              <a:rPr sz="135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   armor.left.top,</a:t>
            </a:r>
          </a:p>
          <a:p xmlns:a="http://schemas.openxmlformats.org/drawingml/2006/main">
            <a:pPr>
              <a:lnSpc>
                <a:spcPct val="105000"/>
              </a:lnSpc>
              <a:buNone/>
            </a:pPr>
            <a:r>
              <a:rPr sz="135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   armor.right.top,</a:t>
            </a:r>
          </a:p>
          <a:p xmlns:a="http://schemas.openxmlformats.org/drawingml/2006/main">
            <a:pPr>
              <a:lnSpc>
                <a:spcPct val="105000"/>
              </a:lnSpc>
              <a:buNone/>
            </a:pPr>
            <a:r>
              <a:rPr sz="1350">
                <a:solidFill>
                  <a:srgbClr val="6A9955"/>
                </a:solidFill>
                <a:latin typeface="Consolas"/>
                <a:ea typeface="Consolas"/>
                <a:cs typeface="Consolas"/>
              </a:rPr>
              <a:t>    armor.right.bottom,</a:t>
            </a:r>
          </a:p>
          <a:p xmlns:a="http://schemas.openxmlformats.org/drawingml/2006/main">
            <a:pPr>
              <a:lnSpc>
                <a:spcPct val="105000"/>
              </a:lnSpc>
              <a:buNone/>
            </a:pPr>
            <a:r>
              <a:rPr sz="1350">
                <a:solidFill>
                  <a:srgbClr val="6A9955"/>
                </a:solidFill>
                <a:latin typeface="Consolas"/>
                <a:ea typeface="Consolas"/>
                <a:cs typeface="Consolas"/>
              </a:rPr>
              <a:t>    armor.left.bottom,</a:t>
            </a:r>
          </a:p>
          <a:p xmlns:a="http://schemas.openxmlformats.org/drawingml/2006/main">
            <a:pPr>
              <a:lnSpc>
                <a:spcPct val="105000"/>
              </a:lnSpc>
              <a:buNone/>
            </a:pPr>
            <a:r>
              <a:rPr sz="1350">
                <a:solidFill>
                  <a:srgbClr val="6A9955"/>
                </a:solidFill>
                <a:latin typeface="Consolas"/>
                <a:ea typeface="Consolas"/>
                <a:cs typeface="Consolas"/>
              </a:rPr>
              <a:t>};</a:t>
            </a:r>
          </a:p>
          <a:p xmlns:a="http://schemas.openxmlformats.org/drawingml/2006/main">
            <a:pPr>
              <a:lnSpc>
                <a:spcPct val="105000"/>
              </a:lnSpc>
              <a:buNone/>
            </a:pPr>
            <a:r>
              <a:rPr sz="1350">
                <a:solidFill>
                  <a:srgbClr val="6A9955"/>
                </a:solidFill>
                <a:latin typeface="Consolas"/>
                <a:ea typeface="Consolas"/>
                <a:cs typeface="Consolas"/>
              </a:rPr>
              <a:t>// 左上、右上、右下、左下</a:t>
            </a:r>
          </a:p>
          <a:p xmlns:a="http://schemas.openxmlformats.org/drawingml/2006/main">
            <a:pPr>
              <a:lnSpc>
                <a:spcPct val="105000"/>
              </a:lnSpc>
              <a:buNone/>
            </a:pPr>
            <a:r>
              <a:rPr sz="1350">
                <a:solidFill>
                  <a:srgbClr val="6A9955"/>
                </a:solidFill>
                <a:latin typeface="Consolas"/>
                <a:ea typeface="Consolas"/>
                <a:cs typeface="Consolas"/>
              </a:rPr>
              <a:t>// 这套顺序必须与 Task 01 的 3D 点完全相同。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5DA2BD5C-6868-402A-A990-F8D9837F7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73952"/>
            <a:ext cx="86868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000">
                <a:solidFill>
                  <a:srgbClr val="5B6377"/>
                </a:solidFill>
                <a:latin typeface="Consolas"/>
                <a:ea typeface="Consolas"/>
                <a:cs typeface="Consolas"/>
              </a:rPr>
              <a:t>Hello Armor · 装甲板位姿解算    P3 动手实验一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E6097A7E-3B02-4CC0-9F2B-848585007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5680" y="6473952"/>
            <a:ext cx="59436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000">
                <a:solidFill>
                  <a:srgbClr val="5B6377"/>
                </a:solidFill>
                <a:latin typeface="Consolas"/>
                <a:ea typeface="Consolas"/>
                <a:cs typeface="Consolas"/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1758792433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0923BFDB-F4AF-4D89-B1B3-E9BFC6817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20040"/>
            <a:ext cx="73152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400" b="1">
                <a:solidFill>
                  <a:srgbClr val="14C98C"/>
                </a:solidFill>
                <a:latin typeface="Consolas"/>
                <a:ea typeface="Consolas"/>
                <a:cs typeface="Consolas"/>
              </a:rPr>
              <a:t>P3 · 动手实验一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F6B92BE5-BB68-4DE5-AE5E-D63423603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777240"/>
            <a:ext cx="1124712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3000" b="1">
                <a:solidFill>
                  <a:srgbClr val="202433"/>
                </a:solidFill>
                <a:latin typeface="Microsoft YaHei"/>
                <a:ea typeface="Microsoft YaHei"/>
                <a:cs typeface="Microsoft YaHei"/>
              </a:rPr>
              <a:t>Task 03 · 调用 cv::solvePnP 得到位姿</a:t>
            </a:r>
          </a:p>
        </p:txBody>
      </p:sp>
      <p:sp>
        <p:nvSpPr>
          <p:cNvPr id="4" name="Rounded Rectangle 3">
            <a:extLst xmlns:a="http://schemas.openxmlformats.org/drawingml/2006/main">
              <a:ext uri="{FF2B5EF4-FFF2-40B4-BE49-F238E27FC236}">
                <a16:creationId xmlns:a16="http://schemas.microsoft.com/office/drawing/2014/main" id="{435EC52A-D302-42CD-873B-4EDCB19F6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6960" y="502920"/>
            <a:ext cx="1737360" cy="384048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E06A3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TASK 03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3F7CDDF8-7D29-4405-8308-76C8D69A2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600200"/>
            <a:ext cx="11064240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spcAft>
                <a:spcPts val="1000"/>
              </a:spcAft>
              <a:buNone/>
            </a:pPr>
            <a:r>
              <a:rPr sz="1600" b="0">
                <a:solidFill>
                  <a:srgbClr val="202433"/>
                </a:solidFill>
                <a:latin typeface="Microsoft YaHei"/>
                <a:ea typeface="Microsoft YaHei"/>
                <a:cs typeface="Microsoft YaHei"/>
              </a:rPr>
              <a:t>· 在 `PoseSolver::solve()` 中使用 Task 01 的 3D 点、Task 02 的 2D 点和已标定的相机参数，输出 rvec 与 tvec。</a:t>
            </a:r>
          </a:p>
        </p:txBody>
      </p:sp>
      <p:sp>
        <p:nvSpPr>
          <p:cNvPr id="6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E0976D0A-55A4-418F-B850-0C4025C40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514600"/>
            <a:ext cx="11109960" cy="155448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1E1E1E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201168" tIns="146304" rIns="164592" bIns="146304" anchor="ctr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</a:pPr>
            <a:r>
              <a:rPr sz="1350">
                <a:solidFill>
                  <a:srgbClr val="6A9955"/>
                </a:solidFill>
                <a:latin typeface="Consolas"/>
                <a:ea typeface="Consolas"/>
                <a:cs typeface="Consolas"/>
              </a:rPr>
              <a:t>// class/tasks/pose_solver.cpp</a:t>
            </a:r>
          </a:p>
          <a:p xmlns:a="http://schemas.openxmlformats.org/drawingml/2006/main">
            <a:pPr>
              <a:lnSpc>
                <a:spcPct val="105000"/>
              </a:lnSpc>
              <a:buNone/>
            </a:pPr>
            <a:r>
              <a:rPr sz="135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// #### Task 03 ####################################</a:t>
            </a:r>
          </a:p>
          <a:p xmlns:a="http://schemas.openxmlformats.org/drawingml/2006/main">
            <a:pPr>
              <a:lnSpc>
                <a:spcPct val="105000"/>
              </a:lnSpc>
              <a:buNone/>
            </a:pPr>
            <a:r>
              <a:rPr sz="1350">
                <a:solidFill>
                  <a:srgbClr val="6A9955"/>
                </a:solidFill>
                <a:latin typeface="Consolas"/>
                <a:ea typeface="Consolas"/>
                <a:cs typeface="Consolas"/>
              </a:rPr>
              <a:t>PoseResult pose;</a:t>
            </a:r>
          </a:p>
          <a:p xmlns:a="http://schemas.openxmlformats.org/drawingml/2006/main">
            <a:pPr>
              <a:lnSpc>
                <a:spcPct val="105000"/>
              </a:lnSpc>
              <a:buNone/>
            </a:pPr>
            <a:r>
              <a:rPr sz="1350">
                <a:solidFill>
                  <a:srgbClr val="6A9955"/>
                </a:solidFill>
                <a:latin typeface="Consolas"/>
                <a:ea typeface="Consolas"/>
                <a:cs typeface="Consolas"/>
              </a:rPr>
              <a:t>const bool solved = cv::solvePnP(</a:t>
            </a:r>
          </a:p>
          <a:p xmlns:a="http://schemas.openxmlformats.org/drawingml/2006/main">
            <a:pPr>
              <a:lnSpc>
                <a:spcPct val="105000"/>
              </a:lnSpc>
              <a:buNone/>
            </a:pPr>
            <a:r>
              <a:rPr sz="135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   points_3d, image_points,</a:t>
            </a:r>
          </a:p>
          <a:p xmlns:a="http://schemas.openxmlformats.org/drawingml/2006/main">
            <a:pPr>
              <a:lnSpc>
                <a:spcPct val="105000"/>
              </a:lnSpc>
              <a:buNone/>
            </a:pPr>
            <a:r>
              <a:rPr sz="1350">
                <a:solidFill>
                  <a:srgbClr val="6A9955"/>
                </a:solidFill>
                <a:latin typeface="Consolas"/>
                <a:ea typeface="Consolas"/>
                <a:cs typeface="Consolas"/>
              </a:rPr>
              <a:t>    camera_matrix_, distort_coeffs_,</a:t>
            </a:r>
          </a:p>
          <a:p xmlns:a="http://schemas.openxmlformats.org/drawingml/2006/main">
            <a:pPr>
              <a:lnSpc>
                <a:spcPct val="105000"/>
              </a:lnSpc>
              <a:buNone/>
            </a:pPr>
            <a:r>
              <a:rPr sz="1350">
                <a:solidFill>
                  <a:srgbClr val="6A9955"/>
                </a:solidFill>
                <a:latin typeface="Consolas"/>
                <a:ea typeface="Consolas"/>
                <a:cs typeface="Consolas"/>
              </a:rPr>
              <a:t>    pose.rvec, pose.tvec);</a:t>
            </a:r>
          </a:p>
          <a:p xmlns:a="http://schemas.openxmlformats.org/drawingml/2006/main">
            <a:pPr>
              <a:lnSpc>
                <a:spcPct val="105000"/>
              </a:lnSpc>
              <a:buNone/>
            </a:pPr>
            <a:r>
              <a:rPr sz="1350">
                <a:solidFill>
                  <a:srgbClr val="6A9955"/>
                </a:solidFill>
                <a:latin typeface="Consolas"/>
                <a:ea typeface="Consolas"/>
                <a:cs typeface="Consolas"/>
              </a:rPr>
              <a:t>if (!solved || pose.tvec[2] &lt;= 0.0)</a:t>
            </a:r>
          </a:p>
          <a:p xmlns:a="http://schemas.openxmlformats.org/drawingml/2006/main">
            <a:pPr>
              <a:lnSpc>
                <a:spcPct val="105000"/>
              </a:lnSpc>
              <a:buNone/>
            </a:pPr>
            <a:r>
              <a:rPr sz="1350">
                <a:solidFill>
                  <a:srgbClr val="6A9955"/>
                </a:solidFill>
                <a:latin typeface="Consolas"/>
                <a:ea typeface="Consolas"/>
                <a:cs typeface="Consolas"/>
              </a:rPr>
              <a:t>    return std::nullopt;</a:t>
            </a:r>
          </a:p>
          <a:p xmlns:a="http://schemas.openxmlformats.org/drawingml/2006/main">
            <a:pPr>
              <a:lnSpc>
                <a:spcPct val="105000"/>
              </a:lnSpc>
              <a:buNone/>
            </a:pPr>
            <a:r>
              <a:rPr sz="1350">
                <a:solidFill>
                  <a:srgbClr val="6A9955"/>
                </a:solidFill>
                <a:latin typeface="Consolas"/>
                <a:ea typeface="Consolas"/>
                <a:cs typeface="Consolas"/>
              </a:rPr>
              <a:t>return pose;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9C18B3D3-4F2A-4199-966D-C44EB81ED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73952"/>
            <a:ext cx="86868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000">
                <a:solidFill>
                  <a:srgbClr val="5B6377"/>
                </a:solidFill>
                <a:latin typeface="Consolas"/>
                <a:ea typeface="Consolas"/>
                <a:cs typeface="Consolas"/>
              </a:rPr>
              <a:t>Hello Armor · 装甲板位姿解算    P3 动手实验一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1CFAA914-19E4-4E3D-8A25-42709F2F4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5680" y="6473952"/>
            <a:ext cx="59436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000">
                <a:solidFill>
                  <a:srgbClr val="5B6377"/>
                </a:solidFill>
                <a:latin typeface="Consolas"/>
                <a:ea typeface="Consolas"/>
                <a:cs typeface="Consolas"/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2088043696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1704F683-B9EB-4DD9-AA8A-092198213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20040"/>
            <a:ext cx="73152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400" b="1">
                <a:solidFill>
                  <a:srgbClr val="14C98C"/>
                </a:solidFill>
                <a:latin typeface="Consolas"/>
                <a:ea typeface="Consolas"/>
                <a:cs typeface="Consolas"/>
              </a:rPr>
              <a:t>P3 · 动手实验一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DAE52264-2984-4A86-8994-A81D53B37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777240"/>
            <a:ext cx="1124712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3000" b="1">
                <a:solidFill>
                  <a:srgbClr val="202433"/>
                </a:solidFill>
                <a:latin typeface="Microsoft YaHei"/>
                <a:ea typeface="Microsoft YaHei"/>
                <a:cs typeface="Microsoft YaHei"/>
              </a:rPr>
              <a:t>现场演示 &amp; Debug 小贴士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9584A222-0400-465B-B6B6-CE5E06209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691640"/>
            <a:ext cx="6858000" cy="44805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spcAft>
                <a:spcPts val="1000"/>
              </a:spcAft>
              <a:buNone/>
            </a:pPr>
            <a:r>
              <a:rPr sz="2000" b="0">
                <a:solidFill>
                  <a:srgbClr val="202433"/>
                </a:solidFill>
                <a:latin typeface="Microsoft YaHei"/>
                <a:ea typeface="Microsoft YaHei"/>
                <a:cs typeface="Microsoft YaHei"/>
              </a:rPr>
              <a:t>· 进入 `lecture4/class` 后运行：`cmake -S . -B build`，再 `cmake --build build --target lecture4_class`。</a:t>
            </a:r>
          </a:p>
          <a:p xmlns:a="http://schemas.openxmlformats.org/drawingml/2006/main">
            <a:pPr>
              <a:lnSpc>
                <a:spcPct val="118000"/>
              </a:lnSpc>
              <a:spcAft>
                <a:spcPts val="1000"/>
              </a:spcAft>
              <a:buNone/>
            </a:pPr>
            <a:r>
              <a:rPr sz="2000" b="0">
                <a:solidFill>
                  <a:srgbClr val="202433"/>
                </a:solidFill>
                <a:latin typeface="Microsoft YaHei"/>
                <a:ea typeface="Microsoft YaHei"/>
                <a:cs typeface="Microsoft YaHei"/>
              </a:rPr>
              <a:t>· 运行：`./build/lecture4_class`。构建脚本已自动复制视频和模型，不再依赖终端当前目录。</a:t>
            </a:r>
          </a:p>
          <a:p xmlns:a="http://schemas.openxmlformats.org/drawingml/2006/main">
            <a:pPr>
              <a:lnSpc>
                <a:spcPct val="118000"/>
              </a:lnSpc>
              <a:spcAft>
                <a:spcPts val="1000"/>
              </a:spcAft>
              <a:buNone/>
            </a:pPr>
            <a:r>
              <a:rPr sz="2000" b="0">
                <a:solidFill>
                  <a:srgbClr val="202433"/>
                </a:solidFill>
                <a:latin typeface="Microsoft YaHei"/>
                <a:ea typeface="Microsoft YaHei"/>
                <a:cs typeface="Microsoft YaHei"/>
              </a:rPr>
              <a:t>· 完成 Task 01 至 Task 03 后，画面会显示 tvec、rvec 和位姿计算状态。</a:t>
            </a:r>
          </a:p>
          <a:p xmlns:a="http://schemas.openxmlformats.org/drawingml/2006/main">
            <a:pPr>
              <a:lnSpc>
                <a:spcPct val="118000"/>
              </a:lnSpc>
              <a:spcAft>
                <a:spcPts val="600"/>
              </a:spcAft>
              <a:buNone/>
            </a:pPr>
            <a:r>
              <a:rPr sz="1700" b="0">
                <a:solidFill>
                  <a:srgbClr val="202433"/>
                </a:solidFill>
                <a:latin typeface="Microsoft YaHei"/>
                <a:ea typeface="Microsoft YaHei"/>
                <a:cs typeface="Microsoft YaHei"/>
              </a:rPr>
              <a:t>· 参考答案：构建并运行 `lecture4_answer`，再按文件逐处对照。</a:t>
            </a:r>
          </a:p>
        </p:txBody>
      </p:sp>
      <p:sp>
        <p:nvSpPr>
          <p:cNvPr id="5" name="Rounded Rectangle 4">
            <a:extLst xmlns:a="http://schemas.openxmlformats.org/drawingml/2006/main">
              <a:ext uri="{FF2B5EF4-FFF2-40B4-BE49-F238E27FC236}">
                <a16:creationId xmlns:a16="http://schemas.microsoft.com/office/drawing/2014/main" id="{51D95D47-816B-492F-8C9C-5940B1A3A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5240" y="1737360"/>
            <a:ext cx="3977639" cy="393192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E7EBF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300" i="1">
                <a:solidFill>
                  <a:srgbClr val="5B6377"/>
                </a:solidFill>
                <a:latin typeface="Microsoft YaHei"/>
                <a:ea typeface="Microsoft YaHei"/>
                <a:cs typeface="Microsoft YaHei"/>
              </a:rPr>
              <a:t>🖼  终端截图：报错信息 +
cd 回根目录后正常运行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789B9DDA-EC9E-41E9-A334-497D5E8A9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73952"/>
            <a:ext cx="86868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000">
                <a:solidFill>
                  <a:srgbClr val="5B6377"/>
                </a:solidFill>
                <a:latin typeface="Consolas"/>
                <a:ea typeface="Consolas"/>
                <a:cs typeface="Consolas"/>
              </a:rPr>
              <a:t>Hello Armor · 装甲板位姿解算    P3 动手实验一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72674BBD-BB05-4E95-9844-5343068B0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5680" y="6473952"/>
            <a:ext cx="59436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000">
                <a:solidFill>
                  <a:srgbClr val="5B6377"/>
                </a:solidFill>
                <a:latin typeface="Consolas"/>
                <a:ea typeface="Consolas"/>
                <a:cs typeface="Consolas"/>
              </a:rPr>
              <a:t>19</a:t>
            </a:r>
          </a:p>
        </p:txBody>
      </p:sp>
    </p:spTree>
    <p:extLst>
      <p:ext uri="{BB962C8B-B14F-4D97-AF65-F5344CB8AC3E}">
        <p14:creationId xmlns:p14="http://schemas.microsoft.com/office/powerpoint/2010/main" val="161212218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0E16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0D772AC3-9013-4FAC-9B32-160914BE2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64592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C98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43DA44B7-27E6-4AFD-8678-52F4F9181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468880"/>
            <a:ext cx="2743200" cy="1280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6400" b="1">
                <a:solidFill>
                  <a:srgbClr val="14C98C"/>
                </a:solidFill>
                <a:latin typeface="Consolas"/>
                <a:ea typeface="Consolas"/>
                <a:cs typeface="Consolas"/>
              </a:rPr>
              <a:t>P4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0DA3BFE5-3319-4AC0-9B63-611FAABFC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1840" y="2697480"/>
            <a:ext cx="8229600" cy="1280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solidFill>
                  <a:srgbClr val="F3F5F9"/>
                </a:solidFill>
                <a:latin typeface="Microsoft YaHei"/>
                <a:ea typeface="Microsoft YaHei"/>
                <a:cs typeface="Microsoft YaHei"/>
              </a:rPr>
              <a:t>rvec 揭秘</a:t>
            </a:r>
          </a:p>
          <a:p xmlns:a="http://schemas.openxmlformats.org/drawingml/2006/main">
            <a:r>
              <a:rPr sz="1800">
                <a:solidFill>
                  <a:srgbClr val="A9B4C9"/>
                </a:solidFill>
                <a:latin typeface="Microsoft YaHei"/>
                <a:ea typeface="Microsoft YaHei"/>
                <a:cs typeface="Microsoft YaHei"/>
              </a:rPr>
              <a:t>旋转向量 / 矩阵 / 欧拉角 / 四元数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F2E78468-9375-46CC-8443-A42C5ACD5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73952"/>
            <a:ext cx="86868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000">
                <a:solidFill>
                  <a:srgbClr val="A9B4C9"/>
                </a:solidFill>
                <a:latin typeface="Consolas"/>
                <a:ea typeface="Consolas"/>
                <a:cs typeface="Consolas"/>
              </a:rPr>
              <a:t>Hello Armor · 装甲板位姿解算    P4 rvec 揭秘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62EB5CBA-CE03-4670-A091-914BB2634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5680" y="6473952"/>
            <a:ext cx="59436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000">
                <a:solidFill>
                  <a:srgbClr val="A9B4C9"/>
                </a:solidFill>
                <a:latin typeface="Consolas"/>
                <a:ea typeface="Consolas"/>
                <a:cs typeface="Consolas"/>
              </a:rPr>
              <a:t>20</a:t>
            </a:r>
          </a:p>
        </p:txBody>
      </p:sp>
    </p:spTree>
    <p:extLst>
      <p:ext uri="{BB962C8B-B14F-4D97-AF65-F5344CB8AC3E}">
        <p14:creationId xmlns:p14="http://schemas.microsoft.com/office/powerpoint/2010/main" val="1219635834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60ED0DB6-F20C-49EF-9E19-61EF68E2E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20040"/>
            <a:ext cx="73152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400" b="1">
                <a:solidFill>
                  <a:srgbClr val="14C98C"/>
                </a:solidFill>
                <a:latin typeface="Consolas"/>
                <a:ea typeface="Consolas"/>
                <a:cs typeface="Consolas"/>
              </a:rPr>
              <a:t>P4 · rvec 揭秘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9C7BC92C-D07B-4913-90CB-C892032CA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777240"/>
            <a:ext cx="1124712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3000" b="1">
                <a:solidFill>
                  <a:srgbClr val="202433"/>
                </a:solidFill>
                <a:latin typeface="Microsoft YaHei"/>
                <a:ea typeface="Microsoft YaHei"/>
                <a:cs typeface="Microsoft YaHei"/>
              </a:rPr>
              <a:t>转一转，看一看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A0EC2090-7802-4A5A-A0B8-CBD63C6C9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691640"/>
            <a:ext cx="6858000" cy="44805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spcAft>
                <a:spcPts val="1000"/>
              </a:spcAft>
              <a:buNone/>
            </a:pPr>
            <a:r>
              <a:rPr sz="2000" b="0">
                <a:solidFill>
                  <a:srgbClr val="202433"/>
                </a:solidFill>
                <a:latin typeface="Microsoft YaHei"/>
                <a:ea typeface="Microsoft YaHei"/>
                <a:cs typeface="Microsoft YaHei"/>
              </a:rPr>
              <a:t>· </a:t>
            </a:r>
            <a:r>
              <a:rPr sz="2000" b="1">
                <a:solidFill>
                  <a:srgbClr val="3D5AFE"/>
                </a:solidFill>
                <a:latin typeface="Microsoft YaHei"/>
                <a:ea typeface="Microsoft YaHei"/>
                <a:cs typeface="Microsoft YaHei"/>
              </a:rPr>
              <a:t>动手环节</a:t>
            </a:r>
            <a:r>
              <a:rPr sz="2000" b="0">
                <a:solidFill>
                  <a:srgbClr val="202433"/>
                </a:solidFill>
                <a:latin typeface="Microsoft YaHei"/>
                <a:ea typeface="Microsoft YaHei"/>
                <a:cs typeface="Microsoft YaHei"/>
              </a:rPr>
              <a:t>：拿起装甲板（或转动摄像头），观察终端里 rvec 三个分量如何变化</a:t>
            </a:r>
          </a:p>
          <a:p xmlns:a="http://schemas.openxmlformats.org/drawingml/2006/main">
            <a:pPr>
              <a:lnSpc>
                <a:spcPct val="118000"/>
              </a:lnSpc>
              <a:spcAft>
                <a:spcPts val="1000"/>
              </a:spcAft>
              <a:buNone/>
            </a:pPr>
            <a:r>
              <a:rPr sz="2000" b="0">
                <a:solidFill>
                  <a:srgbClr val="202433"/>
                </a:solidFill>
                <a:latin typeface="Microsoft YaHei"/>
                <a:ea typeface="Microsoft YaHei"/>
                <a:cs typeface="Microsoft YaHei"/>
              </a:rPr>
              <a:t>· 引导提问：</a:t>
            </a:r>
          </a:p>
          <a:p xmlns:a="http://schemas.openxmlformats.org/drawingml/2006/main">
            <a:pPr>
              <a:lnSpc>
                <a:spcPct val="118000"/>
              </a:lnSpc>
              <a:spcAft>
                <a:spcPts val="600"/>
              </a:spcAft>
              <a:buNone/>
            </a:pPr>
            <a:r>
              <a:rPr sz="1700" b="0">
                <a:solidFill>
                  <a:srgbClr val="202433"/>
                </a:solidFill>
                <a:latin typeface="Microsoft YaHei"/>
                <a:ea typeface="Microsoft YaHei"/>
                <a:cs typeface="Microsoft YaHei"/>
              </a:rPr>
              <a:t>      ‑ 只绕一个轴转，rvec 的哪个分量在变？</a:t>
            </a:r>
          </a:p>
          <a:p xmlns:a="http://schemas.openxmlformats.org/drawingml/2006/main">
            <a:pPr>
              <a:lnSpc>
                <a:spcPct val="118000"/>
              </a:lnSpc>
              <a:spcAft>
                <a:spcPts val="600"/>
              </a:spcAft>
              <a:buNone/>
            </a:pPr>
            <a:r>
              <a:rPr sz="1700" b="0">
                <a:solidFill>
                  <a:srgbClr val="202433"/>
                </a:solidFill>
                <a:latin typeface="Microsoft YaHei"/>
                <a:ea typeface="Microsoft YaHei"/>
                <a:cs typeface="Microsoft YaHei"/>
              </a:rPr>
              <a:t>      ‑ 转得越多，rvec 的数值变化有什么规律？</a:t>
            </a:r>
          </a:p>
          <a:p xmlns:a="http://schemas.openxmlformats.org/drawingml/2006/main">
            <a:pPr>
              <a:lnSpc>
                <a:spcPct val="118000"/>
              </a:lnSpc>
              <a:spcAft>
                <a:spcPts val="1000"/>
              </a:spcAft>
              <a:buNone/>
            </a:pPr>
            <a:r>
              <a:rPr sz="2000" b="0">
                <a:solidFill>
                  <a:srgbClr val="202433"/>
                </a:solidFill>
                <a:latin typeface="Microsoft YaHei"/>
                <a:ea typeface="Microsoft YaHei"/>
                <a:cs typeface="Microsoft YaHei"/>
              </a:rPr>
              <a:t>· 先靠直觉猜一猜，再看下一页的数学定义</a:t>
            </a:r>
          </a:p>
        </p:txBody>
      </p:sp>
      <p:sp>
        <p:nvSpPr>
          <p:cNvPr id="5" name="Rounded Rectangle 4">
            <a:extLst xmlns:a="http://schemas.openxmlformats.org/drawingml/2006/main">
              <a:ext uri="{FF2B5EF4-FFF2-40B4-BE49-F238E27FC236}">
                <a16:creationId xmlns:a16="http://schemas.microsoft.com/office/drawing/2014/main" id="{F786E11F-6A0B-40F6-9E74-990CFAD21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5240" y="1737360"/>
            <a:ext cx="3977639" cy="393192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E7EBF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300" i="1">
                <a:solidFill>
                  <a:srgbClr val="5B6377"/>
                </a:solidFill>
                <a:latin typeface="Microsoft YaHei"/>
                <a:ea typeface="Microsoft YaHei"/>
                <a:cs typeface="Microsoft YaHei"/>
              </a:rPr>
              <a:t>🖼  终端滚动输出 roll 数值
随装甲板转动变化的截图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A2E699BF-2782-41D6-A100-5CF573B75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73952"/>
            <a:ext cx="86868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000">
                <a:solidFill>
                  <a:srgbClr val="5B6377"/>
                </a:solidFill>
                <a:latin typeface="Consolas"/>
                <a:ea typeface="Consolas"/>
                <a:cs typeface="Consolas"/>
              </a:rPr>
              <a:t>Hello Armor · 装甲板位姿解算    P4 rvec 揭秘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D01BFCAD-267E-4316-A985-C843507DA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5680" y="6473952"/>
            <a:ext cx="59436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000">
                <a:solidFill>
                  <a:srgbClr val="5B6377"/>
                </a:solidFill>
                <a:latin typeface="Consolas"/>
                <a:ea typeface="Consolas"/>
                <a:cs typeface="Consolas"/>
              </a:rPr>
              <a:t>21</a:t>
            </a:r>
          </a:p>
        </p:txBody>
      </p:sp>
    </p:spTree>
    <p:extLst>
      <p:ext uri="{BB962C8B-B14F-4D97-AF65-F5344CB8AC3E}">
        <p14:creationId xmlns:p14="http://schemas.microsoft.com/office/powerpoint/2010/main" val="1582762302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FEE500F0-3F6D-41EE-A111-F637F4E68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20040"/>
            <a:ext cx="73152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400" b="1">
                <a:solidFill>
                  <a:srgbClr val="14C98C"/>
                </a:solidFill>
                <a:latin typeface="Consolas"/>
                <a:ea typeface="Consolas"/>
                <a:cs typeface="Consolas"/>
              </a:rPr>
              <a:t>P4 · rvec 揭秘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37CF8CD8-258A-4FF0-8081-F8718EF18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777240"/>
            <a:ext cx="1124712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3000" b="1">
                <a:solidFill>
                  <a:srgbClr val="202433"/>
                </a:solidFill>
                <a:latin typeface="Microsoft YaHei"/>
                <a:ea typeface="Microsoft YaHei"/>
                <a:cs typeface="Microsoft YaHei"/>
              </a:rPr>
              <a:t>rvec 到底是什么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4EC4352F-2D2A-4B28-AEC8-C1174F845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691640"/>
            <a:ext cx="10881360" cy="44805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spcAft>
                <a:spcPts val="1000"/>
              </a:spcAft>
              <a:buNone/>
            </a:pPr>
            <a:r>
              <a:rPr sz="2000" b="0">
                <a:solidFill>
                  <a:srgbClr val="202433"/>
                </a:solidFill>
                <a:latin typeface="Microsoft YaHei"/>
                <a:ea typeface="Microsoft YaHei"/>
                <a:cs typeface="Microsoft YaHei"/>
              </a:rPr>
              <a:t>· </a:t>
            </a:r>
            <a:r>
              <a:rPr sz="2000" b="1">
                <a:solidFill>
                  <a:srgbClr val="3D5AFE"/>
                </a:solidFill>
                <a:latin typeface="Microsoft YaHei"/>
                <a:ea typeface="Microsoft YaHei"/>
                <a:cs typeface="Microsoft YaHei"/>
              </a:rPr>
              <a:t>旋转向量（rotation vector）</a:t>
            </a:r>
            <a:r>
              <a:rPr sz="2000" b="0">
                <a:solidFill>
                  <a:srgbClr val="202433"/>
                </a:solidFill>
                <a:latin typeface="Microsoft YaHei"/>
                <a:ea typeface="Microsoft YaHei"/>
                <a:cs typeface="Microsoft YaHei"/>
              </a:rPr>
              <a:t>：一种紧凑的旋转表示法</a:t>
            </a:r>
          </a:p>
          <a:p xmlns:a="http://schemas.openxmlformats.org/drawingml/2006/main">
            <a:pPr>
              <a:lnSpc>
                <a:spcPct val="118000"/>
              </a:lnSpc>
              <a:spcAft>
                <a:spcPts val="600"/>
              </a:spcAft>
              <a:buNone/>
            </a:pPr>
            <a:r>
              <a:rPr sz="1700" b="0">
                <a:solidFill>
                  <a:srgbClr val="202433"/>
                </a:solidFill>
                <a:latin typeface="Microsoft YaHei"/>
                <a:ea typeface="Microsoft YaHei"/>
                <a:cs typeface="Microsoft YaHei"/>
              </a:rPr>
              <a:t>      ‑ </a:t>
            </a:r>
            <a:r>
              <a:rPr sz="1700" b="1">
                <a:solidFill>
                  <a:srgbClr val="3D5AFE"/>
                </a:solidFill>
                <a:latin typeface="Microsoft YaHei"/>
                <a:ea typeface="Microsoft YaHei"/>
                <a:cs typeface="Microsoft YaHei"/>
              </a:rPr>
              <a:t>方向</a:t>
            </a:r>
            <a:r>
              <a:rPr sz="1700" b="0">
                <a:solidFill>
                  <a:srgbClr val="202433"/>
                </a:solidFill>
                <a:latin typeface="Microsoft YaHei"/>
                <a:ea typeface="Microsoft YaHei"/>
                <a:cs typeface="Microsoft YaHei"/>
              </a:rPr>
              <a:t> = 旋转轴方向</a:t>
            </a:r>
          </a:p>
          <a:p xmlns:a="http://schemas.openxmlformats.org/drawingml/2006/main">
            <a:pPr>
              <a:lnSpc>
                <a:spcPct val="118000"/>
              </a:lnSpc>
              <a:spcAft>
                <a:spcPts val="600"/>
              </a:spcAft>
              <a:buNone/>
            </a:pPr>
            <a:r>
              <a:rPr sz="1700" b="0">
                <a:solidFill>
                  <a:srgbClr val="202433"/>
                </a:solidFill>
                <a:latin typeface="Microsoft YaHei"/>
                <a:ea typeface="Microsoft YaHei"/>
                <a:cs typeface="Microsoft YaHei"/>
              </a:rPr>
              <a:t>      ‑ </a:t>
            </a:r>
            <a:r>
              <a:rPr sz="1700" b="1">
                <a:solidFill>
                  <a:srgbClr val="3D5AFE"/>
                </a:solidFill>
                <a:latin typeface="Microsoft YaHei"/>
                <a:ea typeface="Microsoft YaHei"/>
                <a:cs typeface="Microsoft YaHei"/>
              </a:rPr>
              <a:t>模长（大小）</a:t>
            </a:r>
            <a:r>
              <a:rPr sz="1700" b="0">
                <a:solidFill>
                  <a:srgbClr val="202433"/>
                </a:solidFill>
                <a:latin typeface="Microsoft YaHei"/>
                <a:ea typeface="Microsoft YaHei"/>
                <a:cs typeface="Microsoft YaHei"/>
              </a:rPr>
              <a:t> = 绕这根轴旋转的角度（弧度）</a:t>
            </a:r>
          </a:p>
          <a:p xmlns:a="http://schemas.openxmlformats.org/drawingml/2006/main">
            <a:pPr>
              <a:lnSpc>
                <a:spcPct val="118000"/>
              </a:lnSpc>
              <a:spcAft>
                <a:spcPts val="1000"/>
              </a:spcAft>
              <a:buNone/>
            </a:pPr>
            <a:r>
              <a:rPr sz="2000" b="0">
                <a:solidFill>
                  <a:srgbClr val="202433"/>
                </a:solidFill>
                <a:latin typeface="Microsoft YaHei"/>
                <a:ea typeface="Microsoft YaHei"/>
                <a:cs typeface="Microsoft YaHei"/>
              </a:rPr>
              <a:t>· 好处：只用 3 个数就能表示任意旋转，比 3×3 的旋转矩阵更省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E8976478-BDB9-47EE-B1EA-39386B993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73952"/>
            <a:ext cx="86868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000">
                <a:solidFill>
                  <a:srgbClr val="5B6377"/>
                </a:solidFill>
                <a:latin typeface="Consolas"/>
                <a:ea typeface="Consolas"/>
                <a:cs typeface="Consolas"/>
              </a:rPr>
              <a:t>Hello Armor · 装甲板位姿解算    P4 rvec 揭秘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0EA89EEF-8719-4B78-B384-C35BF7872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5680" y="6473952"/>
            <a:ext cx="59436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000">
                <a:solidFill>
                  <a:srgbClr val="5B6377"/>
                </a:solidFill>
                <a:latin typeface="Consolas"/>
                <a:ea typeface="Consolas"/>
                <a:cs typeface="Consolas"/>
              </a:rPr>
              <a:t>22</a:t>
            </a:r>
          </a:p>
        </p:txBody>
      </p:sp>
    </p:spTree>
    <p:extLst>
      <p:ext uri="{BB962C8B-B14F-4D97-AF65-F5344CB8AC3E}">
        <p14:creationId xmlns:p14="http://schemas.microsoft.com/office/powerpoint/2010/main" val="1125611179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75474A7F-D04B-4183-9E86-D030A5A9F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20040"/>
            <a:ext cx="73152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400" b="1">
                <a:solidFill>
                  <a:srgbClr val="14C98C"/>
                </a:solidFill>
                <a:latin typeface="Consolas"/>
                <a:ea typeface="Consolas"/>
                <a:cs typeface="Consolas"/>
              </a:rPr>
              <a:t>P4 · rvec 揭秘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B3848076-F573-48B9-BD55-80BD23FB5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777240"/>
            <a:ext cx="1124712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3000" b="1">
                <a:solidFill>
                  <a:srgbClr val="202433"/>
                </a:solidFill>
                <a:latin typeface="Microsoft YaHei"/>
                <a:ea typeface="Microsoft YaHei"/>
                <a:cs typeface="Microsoft YaHei"/>
              </a:rPr>
              <a:t>旋转的几种表示法，一张图看懂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C170D5FE-AF19-431C-A25D-D6E9B6BB4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691640"/>
            <a:ext cx="6858000" cy="44805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spcAft>
                <a:spcPts val="1000"/>
              </a:spcAft>
              <a:buNone/>
            </a:pPr>
            <a:r>
              <a:rPr sz="2000" b="0">
                <a:solidFill>
                  <a:srgbClr val="202433"/>
                </a:solidFill>
                <a:latin typeface="Microsoft YaHei"/>
                <a:ea typeface="Microsoft YaHei"/>
                <a:cs typeface="Microsoft YaHei"/>
              </a:rPr>
              <a:t>· </a:t>
            </a:r>
            <a:r>
              <a:rPr sz="2000" b="1">
                <a:solidFill>
                  <a:srgbClr val="3D5AFE"/>
                </a:solidFill>
                <a:latin typeface="Microsoft YaHei"/>
                <a:ea typeface="Microsoft YaHei"/>
                <a:cs typeface="Microsoft YaHei"/>
              </a:rPr>
              <a:t>旋转向量 rvec</a:t>
            </a:r>
            <a:r>
              <a:rPr sz="2000" b="0">
                <a:solidFill>
                  <a:srgbClr val="202433"/>
                </a:solidFill>
                <a:latin typeface="Microsoft YaHei"/>
                <a:ea typeface="Microsoft YaHei"/>
                <a:cs typeface="Microsoft YaHei"/>
              </a:rPr>
              <a:t>  --[ cv::Rodrigues，可逆 ]--&gt;  </a:t>
            </a:r>
            <a:r>
              <a:rPr sz="2000" b="1">
                <a:solidFill>
                  <a:srgbClr val="3D5AFE"/>
                </a:solidFill>
                <a:latin typeface="Microsoft YaHei"/>
                <a:ea typeface="Microsoft YaHei"/>
                <a:cs typeface="Microsoft YaHei"/>
              </a:rPr>
              <a:t>旋转矩阵 rmat</a:t>
            </a:r>
          </a:p>
          <a:p xmlns:a="http://schemas.openxmlformats.org/drawingml/2006/main">
            <a:pPr>
              <a:lnSpc>
                <a:spcPct val="118000"/>
              </a:lnSpc>
              <a:spcAft>
                <a:spcPts val="1000"/>
              </a:spcAft>
              <a:buNone/>
            </a:pPr>
            <a:r>
              <a:rPr sz="2000" b="0">
                <a:solidFill>
                  <a:srgbClr val="202433"/>
                </a:solidFill>
                <a:latin typeface="Microsoft YaHei"/>
                <a:ea typeface="Microsoft YaHei"/>
                <a:cs typeface="Microsoft YaHei"/>
              </a:rPr>
              <a:t>· </a:t>
            </a:r>
            <a:r>
              <a:rPr sz="2000" b="1">
                <a:solidFill>
                  <a:srgbClr val="3D5AFE"/>
                </a:solidFill>
                <a:latin typeface="Microsoft YaHei"/>
                <a:ea typeface="Microsoft YaHei"/>
                <a:cs typeface="Microsoft YaHei"/>
              </a:rPr>
              <a:t>旋转矩阵 rmat</a:t>
            </a:r>
            <a:r>
              <a:rPr sz="2000" b="0">
                <a:solidFill>
                  <a:srgbClr val="202433"/>
                </a:solidFill>
                <a:latin typeface="Microsoft YaHei"/>
                <a:ea typeface="Microsoft YaHei"/>
                <a:cs typeface="Microsoft YaHei"/>
              </a:rPr>
              <a:t>  --[ 反三角函数 ]--&gt;  </a:t>
            </a:r>
            <a:r>
              <a:rPr sz="2000" b="1">
                <a:solidFill>
                  <a:srgbClr val="3D5AFE"/>
                </a:solidFill>
                <a:latin typeface="Microsoft YaHei"/>
                <a:ea typeface="Microsoft YaHei"/>
                <a:cs typeface="Microsoft YaHei"/>
              </a:rPr>
              <a:t>欧拉角</a:t>
            </a:r>
            <a:r>
              <a:rPr sz="2000" b="0">
                <a:solidFill>
                  <a:srgbClr val="202433"/>
                </a:solidFill>
                <a:latin typeface="Microsoft YaHei"/>
                <a:ea typeface="Microsoft YaHei"/>
                <a:cs typeface="Microsoft YaHei"/>
              </a:rPr>
              <a:t>（yaw / pitch / roll）</a:t>
            </a:r>
          </a:p>
          <a:p xmlns:a="http://schemas.openxmlformats.org/drawingml/2006/main">
            <a:pPr>
              <a:lnSpc>
                <a:spcPct val="118000"/>
              </a:lnSpc>
              <a:spcAft>
                <a:spcPts val="1000"/>
              </a:spcAft>
              <a:buNone/>
            </a:pPr>
            <a:r>
              <a:rPr sz="2000" b="0">
                <a:solidFill>
                  <a:srgbClr val="202433"/>
                </a:solidFill>
                <a:latin typeface="Microsoft YaHei"/>
                <a:ea typeface="Microsoft YaHei"/>
                <a:cs typeface="Microsoft YaHei"/>
              </a:rPr>
              <a:t>· </a:t>
            </a:r>
            <a:r>
              <a:rPr sz="2000" b="1">
                <a:solidFill>
                  <a:srgbClr val="3D5AFE"/>
                </a:solidFill>
                <a:latin typeface="Microsoft YaHei"/>
                <a:ea typeface="Microsoft YaHei"/>
                <a:cs typeface="Microsoft YaHei"/>
              </a:rPr>
              <a:t>旋转矩阵 rmat</a:t>
            </a:r>
            <a:r>
              <a:rPr sz="2000" b="0">
                <a:solidFill>
                  <a:srgbClr val="202433"/>
                </a:solidFill>
                <a:latin typeface="Microsoft YaHei"/>
                <a:ea typeface="Microsoft YaHei"/>
                <a:cs typeface="Microsoft YaHei"/>
              </a:rPr>
              <a:t>  --[ 转换公式 ]--&gt;  </a:t>
            </a:r>
            <a:r>
              <a:rPr sz="2000" b="1">
                <a:solidFill>
                  <a:srgbClr val="3D5AFE"/>
                </a:solidFill>
                <a:latin typeface="Microsoft YaHei"/>
                <a:ea typeface="Microsoft YaHei"/>
                <a:cs typeface="Microsoft YaHei"/>
              </a:rPr>
              <a:t>四元数 quaternion</a:t>
            </a:r>
          </a:p>
          <a:p xmlns:a="http://schemas.openxmlformats.org/drawingml/2006/main">
            <a:pPr>
              <a:lnSpc>
                <a:spcPct val="118000"/>
              </a:lnSpc>
              <a:spcAft>
                <a:spcPts val="1000"/>
              </a:spcAft>
              <a:buNone/>
            </a:pPr>
            <a:r>
              <a:rPr sz="2000" b="0">
                <a:solidFill>
                  <a:srgbClr val="202433"/>
                </a:solidFill>
                <a:latin typeface="Microsoft YaHei"/>
                <a:ea typeface="Microsoft YaHei"/>
                <a:cs typeface="Microsoft YaHei"/>
              </a:rPr>
              <a:t>· 三种表示法本质等价，只是在不同场景下各有优劣（下一页展开）</a:t>
            </a:r>
          </a:p>
        </p:txBody>
      </p:sp>
      <p:sp>
        <p:nvSpPr>
          <p:cNvPr id="5" name="Rounded Rectangle 4">
            <a:extLst xmlns:a="http://schemas.openxmlformats.org/drawingml/2006/main">
              <a:ext uri="{FF2B5EF4-FFF2-40B4-BE49-F238E27FC236}">
                <a16:creationId xmlns:a16="http://schemas.microsoft.com/office/drawing/2014/main" id="{47723B68-F9AA-4374-83ED-DBD1A765F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5240" y="1737360"/>
            <a:ext cx="3977639" cy="393192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E7EBF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300" i="1">
                <a:solidFill>
                  <a:srgbClr val="5B6377"/>
                </a:solidFill>
                <a:latin typeface="Microsoft YaHei"/>
                <a:ea typeface="Microsoft YaHei"/>
                <a:cs typeface="Microsoft YaHei"/>
              </a:rPr>
              <a:t>🖼  rvec → rmat → 欧拉角 / 四元数
流程示意图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860BEFC2-EE17-427B-99B8-871C5FC77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73952"/>
            <a:ext cx="86868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000">
                <a:solidFill>
                  <a:srgbClr val="5B6377"/>
                </a:solidFill>
                <a:latin typeface="Consolas"/>
                <a:ea typeface="Consolas"/>
                <a:cs typeface="Consolas"/>
              </a:rPr>
              <a:t>Hello Armor · 装甲板位姿解算    P4 rvec 揭秘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8003A2BC-14C8-45B5-B6AB-A7157FC26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5680" y="6473952"/>
            <a:ext cx="59436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000">
                <a:solidFill>
                  <a:srgbClr val="5B6377"/>
                </a:solidFill>
                <a:latin typeface="Consolas"/>
                <a:ea typeface="Consolas"/>
                <a:cs typeface="Consolas"/>
              </a:rPr>
              <a:t>23</a:t>
            </a:r>
          </a:p>
        </p:txBody>
      </p:sp>
    </p:spTree>
    <p:extLst>
      <p:ext uri="{BB962C8B-B14F-4D97-AF65-F5344CB8AC3E}">
        <p14:creationId xmlns:p14="http://schemas.microsoft.com/office/powerpoint/2010/main" val="1622093051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2DAA7BF1-5F8D-4103-9311-BDFF6E90C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20040"/>
            <a:ext cx="73152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400" b="1">
                <a:solidFill>
                  <a:srgbClr val="14C98C"/>
                </a:solidFill>
                <a:latin typeface="Consolas"/>
                <a:ea typeface="Consolas"/>
                <a:cs typeface="Consolas"/>
              </a:rPr>
              <a:t>P4 · rvec 揭秘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5E2D360C-888D-4826-8BAF-10AED5831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777240"/>
            <a:ext cx="1124712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3000" b="1">
                <a:solidFill>
                  <a:srgbClr val="202433"/>
                </a:solidFill>
                <a:latin typeface="Microsoft YaHei"/>
                <a:ea typeface="Microsoft YaHei"/>
                <a:cs typeface="Microsoft YaHei"/>
              </a:rPr>
              <a:t>从旋转矩阵提取欧拉角（INT_YXZ 约定）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389A58E2-95D0-4BC5-80C3-0923D38F3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600200"/>
            <a:ext cx="11064240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spcAft>
                <a:spcPts val="1000"/>
              </a:spcAft>
              <a:buNone/>
            </a:pPr>
            <a:r>
              <a:rPr sz="1600" b="0">
                <a:solidFill>
                  <a:srgbClr val="202433"/>
                </a:solidFill>
                <a:latin typeface="Microsoft YaHei"/>
                <a:ea typeface="Microsoft YaHei"/>
                <a:cs typeface="Microsoft YaHei"/>
              </a:rPr>
              <a:t>· 欧拉角依赖坐标系定义和旋转顺序。它用于描述装甲板自身朝向，不等同于 Task 05 的相机瞄准 yaw/pitch。</a:t>
            </a:r>
          </a:p>
        </p:txBody>
      </p:sp>
      <p:sp>
        <p:nvSpPr>
          <p:cNvPr id="5" name="Rounded Rectangle 4">
            <a:extLst xmlns:a="http://schemas.openxmlformats.org/drawingml/2006/main">
              <a:ext uri="{FF2B5EF4-FFF2-40B4-BE49-F238E27FC236}">
                <a16:creationId xmlns:a16="http://schemas.microsoft.com/office/drawing/2014/main" id="{CC9BA501-EB5A-45FC-A4D9-E398B3B9F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514600"/>
            <a:ext cx="11109960" cy="201168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1E1E1E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201168" tIns="146304" rIns="164592" bIns="146304" anchor="ctr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</a:pPr>
            <a:r>
              <a:rPr sz="1350">
                <a:solidFill>
                  <a:srgbClr val="6A9955"/>
                </a:solidFill>
                <a:latin typeface="Consolas"/>
                <a:ea typeface="Consolas"/>
                <a:cs typeface="Consolas"/>
              </a:rPr>
              <a:t>// 进阶任务：先明确本队统一的坐标系和旋转顺序</a:t>
            </a:r>
          </a:p>
          <a:p xmlns:a="http://schemas.openxmlformats.org/drawingml/2006/main">
            <a:pPr>
              <a:lnSpc>
                <a:spcPct val="105000"/>
              </a:lnSpc>
              <a:buNone/>
            </a:pPr>
            <a:r>
              <a:rPr sz="135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cv::Matx33d rmat;</a:t>
            </a:r>
          </a:p>
          <a:p xmlns:a="http://schemas.openxmlformats.org/drawingml/2006/main">
            <a:pPr>
              <a:lnSpc>
                <a:spcPct val="105000"/>
              </a:lnSpc>
              <a:buNone/>
            </a:pPr>
            <a:r>
              <a:rPr sz="135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cv::Rodrigues(rvec, rmat);</a:t>
            </a:r>
          </a:p>
          <a:p xmlns:a="http://schemas.openxmlformats.org/drawingml/2006/main">
            <a:pPr>
              <a:lnSpc>
                <a:spcPct val="105000"/>
              </a:lnSpc>
              <a:buNone/>
            </a:pPr>
            <a:r>
              <a:rPr sz="135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/>
            </a:r>
          </a:p>
          <a:p xmlns:a="http://schemas.openxmlformats.org/drawingml/2006/main">
            <a:pPr>
              <a:lnSpc>
                <a:spcPct val="105000"/>
              </a:lnSpc>
              <a:buNone/>
            </a:pPr>
            <a:r>
              <a:rPr sz="135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// 再按统一约定从 rmat 提取欧拉角</a:t>
            </a:r>
          </a:p>
          <a:p xmlns:a="http://schemas.openxmlformats.org/drawingml/2006/main">
            <a:pPr>
              <a:lnSpc>
                <a:spcPct val="105000"/>
              </a:lnSpc>
              <a:buNone/>
            </a:pPr>
            <a:r>
              <a:rPr sz="1350">
                <a:solidFill>
                  <a:srgbClr val="6A9955"/>
                </a:solidFill>
                <a:latin typeface="Consolas"/>
                <a:ea typeface="Consolas"/>
                <a:cs typeface="Consolas"/>
              </a:rPr>
              <a:t>// 角度 = 弧度 * 180.0 / CV_PI</a:t>
            </a:r>
          </a:p>
          <a:p xmlns:a="http://schemas.openxmlformats.org/drawingml/2006/main">
            <a:pPr>
              <a:lnSpc>
                <a:spcPct val="105000"/>
              </a:lnSpc>
              <a:buNone/>
            </a:pPr>
            <a:r>
              <a:rPr sz="1350">
                <a:solidFill>
                  <a:srgbClr val="6A9955"/>
                </a:solidFill>
                <a:latin typeface="Consolas"/>
                <a:ea typeface="Consolas"/>
                <a:cs typeface="Consolas"/>
              </a:rPr>
              <a:t>// 请勿把任意网络公式直接套到当前工程。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BF47F97A-F85A-405E-8BD8-17EBD992B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73952"/>
            <a:ext cx="86868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000">
                <a:solidFill>
                  <a:srgbClr val="5B6377"/>
                </a:solidFill>
                <a:latin typeface="Consolas"/>
                <a:ea typeface="Consolas"/>
                <a:cs typeface="Consolas"/>
              </a:rPr>
              <a:t>Hello Armor · 装甲板位姿解算    P4 rvec 揭秘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993943AF-E875-4C2C-824E-97E3D496E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5680" y="6473952"/>
            <a:ext cx="59436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000">
                <a:solidFill>
                  <a:srgbClr val="5B6377"/>
                </a:solidFill>
                <a:latin typeface="Consolas"/>
                <a:ea typeface="Consolas"/>
                <a:cs typeface="Consolas"/>
              </a:rPr>
              <a:t>24</a:t>
            </a:r>
          </a:p>
        </p:txBody>
      </p:sp>
    </p:spTree>
    <p:extLst>
      <p:ext uri="{BB962C8B-B14F-4D97-AF65-F5344CB8AC3E}">
        <p14:creationId xmlns:p14="http://schemas.microsoft.com/office/powerpoint/2010/main" val="181577810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C88401A9-9E95-4ABD-89DD-0CD7659F2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20040"/>
            <a:ext cx="73152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400" b="1">
                <a:solidFill>
                  <a:srgbClr val="14C98C"/>
                </a:solidFill>
                <a:latin typeface="Consolas"/>
                <a:ea typeface="Consolas"/>
                <a:cs typeface="Consolas"/>
              </a:rPr>
              <a:t>P4 · rvec 揭秘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4216C9E1-3282-45EF-A723-E633AD1AD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777240"/>
            <a:ext cx="1124712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3000" b="1">
                <a:solidFill>
                  <a:srgbClr val="202433"/>
                </a:solidFill>
                <a:latin typeface="Microsoft YaHei"/>
                <a:ea typeface="Microsoft YaHei"/>
                <a:cs typeface="Microsoft YaHei"/>
              </a:rPr>
              <a:t>欧拉角的坑：万向锁（Gimbal Lock）</a:t>
            </a:r>
          </a:p>
        </p:txBody>
      </p:sp>
      <p:sp>
        <p:nvSpPr>
          <p:cNvPr id="4" name="Rounded Rectangle 3">
            <a:extLst xmlns:a="http://schemas.openxmlformats.org/drawingml/2006/main">
              <a:ext uri="{FF2B5EF4-FFF2-40B4-BE49-F238E27FC236}">
                <a16:creationId xmlns:a16="http://schemas.microsoft.com/office/drawing/2014/main" id="{77DFEE8F-9F05-4A05-AF6C-5B0D649E7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691640"/>
            <a:ext cx="5349240" cy="448056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F4F6FA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Rounded Rectangle 4">
            <a:extLst xmlns:a="http://schemas.openxmlformats.org/drawingml/2006/main">
              <a:ext uri="{FF2B5EF4-FFF2-40B4-BE49-F238E27FC236}">
                <a16:creationId xmlns:a16="http://schemas.microsoft.com/office/drawing/2014/main" id="{B02ED3D0-EC2F-4DAD-94D1-880E93D5E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691640"/>
            <a:ext cx="5349240" cy="448056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F4F6FA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B18466E4-1DBF-4E97-AC6B-49CEC5286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1828800"/>
            <a:ext cx="484632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800" b="1">
                <a:solidFill>
                  <a:srgbClr val="3D5AFE"/>
                </a:solidFill>
                <a:latin typeface="Microsoft YaHei"/>
                <a:ea typeface="Microsoft YaHei"/>
                <a:cs typeface="Microsoft YaHei"/>
              </a:rPr>
              <a:t>欧拉角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E45B44BC-0B6D-4692-AF22-2E8BD5C97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6520" y="1828800"/>
            <a:ext cx="484632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800" b="1">
                <a:solidFill>
                  <a:srgbClr val="3D5AFE"/>
                </a:solidFill>
                <a:latin typeface="Microsoft YaHei"/>
                <a:ea typeface="Microsoft YaHei"/>
                <a:cs typeface="Microsoft YaHei"/>
              </a:rPr>
              <a:t>四元数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3AB9F6F2-6C67-49A6-9AB1-3624A8959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331720"/>
            <a:ext cx="4846320" cy="3657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spcAft>
                <a:spcPts val="1000"/>
              </a:spcAft>
              <a:buNone/>
            </a:pPr>
            <a:r>
              <a:rPr sz="1500" b="0">
                <a:solidFill>
                  <a:srgbClr val="202433"/>
                </a:solidFill>
                <a:latin typeface="Microsoft YaHei"/>
                <a:ea typeface="Microsoft YaHei"/>
                <a:cs typeface="Microsoft YaHei"/>
              </a:rPr>
              <a:t>· 直观、好理解（yaw / pitch / roll）</a:t>
            </a:r>
          </a:p>
          <a:p xmlns:a="http://schemas.openxmlformats.org/drawingml/2006/main">
            <a:pPr>
              <a:lnSpc>
                <a:spcPct val="118000"/>
              </a:lnSpc>
              <a:spcAft>
                <a:spcPts val="1000"/>
              </a:spcAft>
              <a:buNone/>
            </a:pPr>
            <a:r>
              <a:rPr sz="1500" b="0">
                <a:solidFill>
                  <a:srgbClr val="202433"/>
                </a:solidFill>
                <a:latin typeface="Microsoft YaHei"/>
                <a:ea typeface="Microsoft YaHei"/>
                <a:cs typeface="Microsoft YaHei"/>
              </a:rPr>
              <a:t>· 表示</a:t>
            </a:r>
            <a:r>
              <a:rPr sz="1500" b="1">
                <a:solidFill>
                  <a:srgbClr val="202433"/>
                </a:solidFill>
                <a:latin typeface="Microsoft YaHei"/>
                <a:ea typeface="Microsoft YaHei"/>
                <a:cs typeface="Microsoft YaHei"/>
              </a:rPr>
              <a:t>不唯一</a:t>
            </a:r>
            <a:r>
              <a:rPr sz="1500" b="0">
                <a:solidFill>
                  <a:srgbClr val="202433"/>
                </a:solidFill>
                <a:latin typeface="Microsoft YaHei"/>
                <a:ea typeface="Microsoft YaHei"/>
                <a:cs typeface="Microsoft YaHei"/>
              </a:rPr>
              <a:t>：不同旋转顺序结果不同</a:t>
            </a:r>
          </a:p>
          <a:p xmlns:a="http://schemas.openxmlformats.org/drawingml/2006/main">
            <a:pPr>
              <a:lnSpc>
                <a:spcPct val="118000"/>
              </a:lnSpc>
              <a:spcAft>
                <a:spcPts val="1000"/>
              </a:spcAft>
              <a:buNone/>
            </a:pPr>
            <a:r>
              <a:rPr sz="1500" b="0">
                <a:solidFill>
                  <a:srgbClr val="202433"/>
                </a:solidFill>
                <a:latin typeface="Microsoft YaHei"/>
                <a:ea typeface="Microsoft YaHei"/>
                <a:cs typeface="Microsoft YaHei"/>
              </a:rPr>
              <a:t>· 特定姿态下会</a:t>
            </a:r>
            <a:r>
              <a:rPr sz="1500" b="1">
                <a:solidFill>
                  <a:srgbClr val="202433"/>
                </a:solidFill>
                <a:latin typeface="Microsoft YaHei"/>
                <a:ea typeface="Microsoft YaHei"/>
                <a:cs typeface="Microsoft YaHei"/>
              </a:rPr>
              <a:t>丢失一个自由度</a:t>
            </a:r>
            <a:r>
              <a:rPr sz="1500" b="0">
                <a:solidFill>
                  <a:srgbClr val="202433"/>
                </a:solidFill>
                <a:latin typeface="Microsoft YaHei"/>
                <a:ea typeface="Microsoft YaHei"/>
                <a:cs typeface="Microsoft YaHei"/>
              </a:rPr>
              <a:t>（万向锁）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0154205D-8B4D-477C-AC18-78D3665F2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6520" y="2331720"/>
            <a:ext cx="4846320" cy="3657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spcAft>
                <a:spcPts val="1000"/>
              </a:spcAft>
              <a:buNone/>
            </a:pPr>
            <a:r>
              <a:rPr sz="1500" b="0">
                <a:solidFill>
                  <a:srgbClr val="202433"/>
                </a:solidFill>
                <a:latin typeface="Microsoft YaHei"/>
                <a:ea typeface="Microsoft YaHei"/>
                <a:cs typeface="Microsoft YaHei"/>
              </a:rPr>
              <a:t>· 4 个数 (w, x, y, z)，无奇异点</a:t>
            </a:r>
          </a:p>
          <a:p xmlns:a="http://schemas.openxmlformats.org/drawingml/2006/main">
            <a:pPr>
              <a:lnSpc>
                <a:spcPct val="118000"/>
              </a:lnSpc>
              <a:spcAft>
                <a:spcPts val="1000"/>
              </a:spcAft>
              <a:buNone/>
            </a:pPr>
            <a:r>
              <a:rPr sz="1500" b="0">
                <a:solidFill>
                  <a:srgbClr val="202433"/>
                </a:solidFill>
                <a:latin typeface="Microsoft YaHei"/>
                <a:ea typeface="Microsoft YaHei"/>
                <a:cs typeface="Microsoft YaHei"/>
              </a:rPr>
              <a:t>· 插值、连续旋转更稳健</a:t>
            </a:r>
          </a:p>
          <a:p xmlns:a="http://schemas.openxmlformats.org/drawingml/2006/main">
            <a:pPr>
              <a:lnSpc>
                <a:spcPct val="118000"/>
              </a:lnSpc>
              <a:spcAft>
                <a:spcPts val="1000"/>
              </a:spcAft>
              <a:buNone/>
            </a:pPr>
            <a:r>
              <a:rPr sz="1500" b="0">
                <a:solidFill>
                  <a:srgbClr val="202433"/>
                </a:solidFill>
                <a:latin typeface="Microsoft YaHei"/>
                <a:ea typeface="Microsoft YaHei"/>
                <a:cs typeface="Microsoft YaHei"/>
              </a:rPr>
              <a:t>· 不直观，本讲不展开推导</a:t>
            </a:r>
          </a:p>
          <a:p xmlns:a="http://schemas.openxmlformats.org/drawingml/2006/main">
            <a:pPr>
              <a:lnSpc>
                <a:spcPct val="118000"/>
              </a:lnSpc>
              <a:spcAft>
                <a:spcPts val="1000"/>
              </a:spcAft>
              <a:buNone/>
            </a:pPr>
            <a:r>
              <a:rPr sz="1500" b="0">
                <a:solidFill>
                  <a:srgbClr val="202433"/>
                </a:solidFill>
                <a:latin typeface="Microsoft YaHei"/>
                <a:ea typeface="Microsoft YaHei"/>
                <a:cs typeface="Microsoft YaHei"/>
              </a:rPr>
              <a:t>· 课后可用 </a:t>
            </a:r>
            <a:r>
              <a:rPr sz="1500" b="1">
                <a:solidFill>
                  <a:srgbClr val="202433"/>
                </a:solidFill>
                <a:latin typeface="Microsoft YaHei"/>
                <a:ea typeface="Microsoft YaHei"/>
                <a:cs typeface="Microsoft YaHei"/>
              </a:rPr>
              <a:t>quaternions.online</a:t>
            </a:r>
            <a:r>
              <a:rPr sz="1500" b="0">
                <a:solidFill>
                  <a:srgbClr val="202433"/>
                </a:solidFill>
                <a:latin typeface="Microsoft YaHei"/>
                <a:ea typeface="Microsoft YaHei"/>
                <a:cs typeface="Microsoft YaHei"/>
              </a:rPr>
              <a:t> 交互体验两者关系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335FBE64-F150-42C5-8915-42485F0C2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73952"/>
            <a:ext cx="86868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000">
                <a:solidFill>
                  <a:srgbClr val="5B6377"/>
                </a:solidFill>
                <a:latin typeface="Consolas"/>
                <a:ea typeface="Consolas"/>
                <a:cs typeface="Consolas"/>
              </a:rPr>
              <a:t>Hello Armor · 装甲板位姿解算    P4 rvec 揭秘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9EE6D07F-284C-48B4-BA82-E312AE160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5680" y="6473952"/>
            <a:ext cx="59436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000">
                <a:solidFill>
                  <a:srgbClr val="5B6377"/>
                </a:solidFill>
                <a:latin typeface="Consolas"/>
                <a:ea typeface="Consolas"/>
                <a:cs typeface="Consolas"/>
              </a:rPr>
              <a:t>25</a:t>
            </a:r>
          </a:p>
        </p:txBody>
      </p:sp>
    </p:spTree>
    <p:extLst>
      <p:ext uri="{BB962C8B-B14F-4D97-AF65-F5344CB8AC3E}">
        <p14:creationId xmlns:p14="http://schemas.microsoft.com/office/powerpoint/2010/main" val="91054046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0E16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596CCE14-9464-40A4-85FF-CBB8FEBBD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64592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C98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46D4B0F2-F794-45D4-9EA9-706DAA7DC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468880"/>
            <a:ext cx="2743200" cy="1280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6400" b="1">
                <a:solidFill>
                  <a:srgbClr val="14C98C"/>
                </a:solidFill>
                <a:latin typeface="Consolas"/>
                <a:ea typeface="Consolas"/>
                <a:cs typeface="Consolas"/>
              </a:rPr>
              <a:t>P5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9D4CD05A-3CCB-4D0E-AD7D-62B315EA9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1840" y="2697480"/>
            <a:ext cx="8229600" cy="1280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solidFill>
                  <a:srgbClr val="F3F5F9"/>
                </a:solidFill>
                <a:latin typeface="Microsoft YaHei"/>
                <a:ea typeface="Microsoft YaHei"/>
                <a:cs typeface="Microsoft YaHei"/>
              </a:rPr>
              <a:t>动手实验二</a:t>
            </a:r>
          </a:p>
          <a:p xmlns:a="http://schemas.openxmlformats.org/drawingml/2006/main">
            <a:r>
              <a:rPr sz="1800">
                <a:solidFill>
                  <a:srgbClr val="A9B4C9"/>
                </a:solidFill>
                <a:latin typeface="Microsoft YaHei"/>
                <a:ea typeface="Microsoft YaHei"/>
                <a:cs typeface="Microsoft YaHei"/>
              </a:rPr>
              <a:t>Task 04~05：用重投影验证结果，再算距离和瞄准角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428568F6-9BFD-4638-A134-B9188FC6D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73952"/>
            <a:ext cx="86868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000">
                <a:solidFill>
                  <a:srgbClr val="A9B4C9"/>
                </a:solidFill>
                <a:latin typeface="Consolas"/>
                <a:ea typeface="Consolas"/>
                <a:cs typeface="Consolas"/>
              </a:rPr>
              <a:t>Hello Armor · 装甲板位姿解算    P5 动手实验二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9A543DF2-32E3-47C6-9228-5AC2C49A2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5680" y="6473952"/>
            <a:ext cx="59436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000">
                <a:solidFill>
                  <a:srgbClr val="A9B4C9"/>
                </a:solidFill>
                <a:latin typeface="Consolas"/>
                <a:ea typeface="Consolas"/>
                <a:cs typeface="Consolas"/>
              </a:rPr>
              <a:t>26</a:t>
            </a:r>
          </a:p>
        </p:txBody>
      </p:sp>
    </p:spTree>
    <p:extLst>
      <p:ext uri="{BB962C8B-B14F-4D97-AF65-F5344CB8AC3E}">
        <p14:creationId xmlns:p14="http://schemas.microsoft.com/office/powerpoint/2010/main" val="1464427185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8DCAF48A-A808-435E-AC46-0A84B6D8E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20040"/>
            <a:ext cx="73152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400" b="1">
                <a:solidFill>
                  <a:srgbClr val="14C98C"/>
                </a:solidFill>
                <a:latin typeface="Consolas"/>
                <a:ea typeface="Consolas"/>
                <a:cs typeface="Consolas"/>
              </a:rPr>
              <a:t>P5 · 动手实验二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998C68CD-CFBF-4178-93EA-EE516ADD7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777240"/>
            <a:ext cx="1124712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3000" b="1">
                <a:solidFill>
                  <a:srgbClr val="202433"/>
                </a:solidFill>
                <a:latin typeface="Microsoft YaHei"/>
                <a:ea typeface="Microsoft YaHei"/>
                <a:cs typeface="Microsoft YaHei"/>
              </a:rPr>
              <a:t>Task 04 · 重投影验证 PnP 结果</a:t>
            </a:r>
          </a:p>
        </p:txBody>
      </p:sp>
      <p:sp>
        <p:nvSpPr>
          <p:cNvPr id="4" name="Rounded Rectangle 3">
            <a:extLst xmlns:a="http://schemas.openxmlformats.org/drawingml/2006/main">
              <a:ext uri="{FF2B5EF4-FFF2-40B4-BE49-F238E27FC236}">
                <a16:creationId xmlns:a16="http://schemas.microsoft.com/office/drawing/2014/main" id="{04C57C6A-8969-41A3-B0B1-0694E43BB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6960" y="502920"/>
            <a:ext cx="1737360" cy="384048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E06A3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TASK 04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33296ED7-DCA0-41C9-944B-069515ADE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600200"/>
            <a:ext cx="11064240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spcAft>
                <a:spcPts val="1000"/>
              </a:spcAft>
              <a:buNone/>
            </a:pPr>
            <a:r>
              <a:rPr sz="1600" b="0">
                <a:solidFill>
                  <a:srgbClr val="202433"/>
                </a:solidFill>
                <a:latin typeface="Microsoft YaHei"/>
                <a:ea typeface="Microsoft YaHei"/>
                <a:cs typeface="Microsoft YaHei"/>
              </a:rPr>
              <a:t>· 在 `PoseSolver::reproject()` 中调用 `cv::projectPoints`，再计算观测点与重投影点之间的 RMS 像素误差。</a:t>
            </a:r>
          </a:p>
        </p:txBody>
      </p:sp>
      <p:sp>
        <p:nvSpPr>
          <p:cNvPr id="6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159679C5-CD68-4F42-866A-178AA1588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514600"/>
            <a:ext cx="11109960" cy="265176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1E1E1E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201168" tIns="146304" rIns="164592" bIns="146304" anchor="ctr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</a:pPr>
            <a:r>
              <a:rPr sz="1350">
                <a:solidFill>
                  <a:srgbClr val="6A9955"/>
                </a:solidFill>
                <a:latin typeface="Consolas"/>
                <a:ea typeface="Consolas"/>
                <a:cs typeface="Consolas"/>
              </a:rPr>
              <a:t>// class/tasks/pose_solver.cpp</a:t>
            </a:r>
          </a:p>
          <a:p xmlns:a="http://schemas.openxmlformats.org/drawingml/2006/main">
            <a:pPr>
              <a:lnSpc>
                <a:spcPct val="105000"/>
              </a:lnSpc>
              <a:buNone/>
            </a:pPr>
            <a:r>
              <a:rPr sz="1350">
                <a:solidFill>
                  <a:srgbClr val="6A9955"/>
                </a:solidFill>
                <a:latin typeface="Consolas"/>
                <a:ea typeface="Consolas"/>
                <a:cs typeface="Consolas"/>
              </a:rPr>
              <a:t>// #### Task 04 ####################################</a:t>
            </a:r>
          </a:p>
          <a:p xmlns:a="http://schemas.openxmlformats.org/drawingml/2006/main">
            <a:pPr>
              <a:lnSpc>
                <a:spcPct val="105000"/>
              </a:lnSpc>
              <a:buNone/>
            </a:pPr>
            <a:r>
              <a:rPr sz="1350">
                <a:solidFill>
                  <a:srgbClr val="6A9955"/>
                </a:solidFill>
                <a:latin typeface="Consolas"/>
                <a:ea typeface="Consolas"/>
                <a:cs typeface="Consolas"/>
              </a:rPr>
              <a:t>std::vector&lt;cv::Point2f&gt; reprojected_points;</a:t>
            </a:r>
          </a:p>
          <a:p xmlns:a="http://schemas.openxmlformats.org/drawingml/2006/main">
            <a:pPr>
              <a:lnSpc>
                <a:spcPct val="105000"/>
              </a:lnSpc>
              <a:buNone/>
            </a:pPr>
            <a:r>
              <a:rPr sz="135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cv::projectPoints(</a:t>
            </a:r>
          </a:p>
          <a:p xmlns:a="http://schemas.openxmlformats.org/drawingml/2006/main">
            <a:pPr>
              <a:lnSpc>
                <a:spcPct val="105000"/>
              </a:lnSpc>
              <a:buNone/>
            </a:pPr>
            <a:r>
              <a:rPr sz="135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   object_points(), pose.rvec, pose.tvec,</a:t>
            </a:r>
          </a:p>
          <a:p xmlns:a="http://schemas.openxmlformats.org/drawingml/2006/main">
            <a:pPr>
              <a:lnSpc>
                <a:spcPct val="105000"/>
              </a:lnSpc>
              <a:buNone/>
            </a:pPr>
            <a:r>
              <a:rPr sz="135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   camera_matrix_, distort_coeffs_, reprojected_points);</a:t>
            </a:r>
          </a:p>
          <a:p xmlns:a="http://schemas.openxmlformats.org/drawingml/2006/main">
            <a:pPr>
              <a:lnSpc>
                <a:spcPct val="105000"/>
              </a:lnSpc>
              <a:buNone/>
            </a:pPr>
            <a:r>
              <a:rPr sz="135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/>
            </a:r>
          </a:p>
          <a:p xmlns:a="http://schemas.openxmlformats.org/drawingml/2006/main">
            <a:pPr>
              <a:lnSpc>
                <a:spcPct val="105000"/>
              </a:lnSpc>
              <a:buNone/>
            </a:pPr>
            <a:r>
              <a:rPr sz="135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// 计算每个观测点与重投影点的平方误差之和</a:t>
            </a:r>
          </a:p>
          <a:p xmlns:a="http://schemas.openxmlformats.org/drawingml/2006/main">
            <a:pPr>
              <a:lnSpc>
                <a:spcPct val="105000"/>
              </a:lnSpc>
              <a:buNone/>
            </a:pPr>
            <a:r>
              <a:rPr sz="135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// RMS = sqrt(平方误差和 / 点数)</a:t>
            </a:r>
          </a:p>
          <a:p xmlns:a="http://schemas.openxmlformats.org/drawingml/2006/main">
            <a:pPr>
              <a:lnSpc>
                <a:spcPct val="105000"/>
              </a:lnSpc>
              <a:buNone/>
            </a:pPr>
            <a:r>
              <a:rPr sz="135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// 红色 O 点应与绿色 P 点基本重合。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15107A9E-A09B-4F35-ACA2-EDE26815C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276088"/>
            <a:ext cx="11064240" cy="1097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spcAft>
                <a:spcPts val="1000"/>
              </a:spcAft>
              <a:buNone/>
            </a:pPr>
            <a:r>
              <a:rPr sz="1400" b="0">
                <a:solidFill>
                  <a:srgbClr val="5B6377"/>
                </a:solidFill>
                <a:latin typeface="Microsoft YaHei"/>
                <a:ea typeface="Microsoft YaHei"/>
                <a:cs typeface="Microsoft YaHei"/>
              </a:rPr>
              <a:t>· 验收：点序和标定正确时，绿色 P1 至 P4 应贴近红色 O1 至 O4。误差变大时，优先检查四点顺序和相机分辨率。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4AEBF36A-C6D8-42D8-88AF-1CFC92AA5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73952"/>
            <a:ext cx="86868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000">
                <a:solidFill>
                  <a:srgbClr val="5B6377"/>
                </a:solidFill>
                <a:latin typeface="Consolas"/>
                <a:ea typeface="Consolas"/>
                <a:cs typeface="Consolas"/>
              </a:rPr>
              <a:t>Hello Armor · 装甲板位姿解算    P5 动手实验二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3D7D6DFC-3111-42DD-8DD1-4FCEA0049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5680" y="6473952"/>
            <a:ext cx="59436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000">
                <a:solidFill>
                  <a:srgbClr val="5B6377"/>
                </a:solidFill>
                <a:latin typeface="Consolas"/>
                <a:ea typeface="Consolas"/>
                <a:cs typeface="Consolas"/>
              </a:rPr>
              <a:t>27</a:t>
            </a:r>
          </a:p>
        </p:txBody>
      </p:sp>
    </p:spTree>
    <p:extLst>
      <p:ext uri="{BB962C8B-B14F-4D97-AF65-F5344CB8AC3E}">
        <p14:creationId xmlns:p14="http://schemas.microsoft.com/office/powerpoint/2010/main" val="467435155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E94FF10B-5FA8-4754-B577-8F381D776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20040"/>
            <a:ext cx="73152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400" b="1">
                <a:solidFill>
                  <a:srgbClr val="14C98C"/>
                </a:solidFill>
                <a:latin typeface="Consolas"/>
                <a:ea typeface="Consolas"/>
                <a:cs typeface="Consolas"/>
              </a:rPr>
              <a:t>P5 · 动手实验二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585289CB-E17E-40B1-80F9-2FD6E2554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777240"/>
            <a:ext cx="1124712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3000" b="1">
                <a:solidFill>
                  <a:srgbClr val="202433"/>
                </a:solidFill>
                <a:latin typeface="Microsoft YaHei"/>
                <a:ea typeface="Microsoft YaHei"/>
                <a:cs typeface="Microsoft YaHei"/>
              </a:rPr>
              <a:t>Task 05 · 从 tvec 得到距离和瞄准角</a:t>
            </a:r>
          </a:p>
        </p:txBody>
      </p:sp>
      <p:sp>
        <p:nvSpPr>
          <p:cNvPr id="4" name="Rounded Rectangle 3">
            <a:extLst xmlns:a="http://schemas.openxmlformats.org/drawingml/2006/main">
              <a:ext uri="{FF2B5EF4-FFF2-40B4-BE49-F238E27FC236}">
                <a16:creationId xmlns:a16="http://schemas.microsoft.com/office/drawing/2014/main" id="{78E77D94-690B-43DD-8B6C-6DE19D0CD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6960" y="502920"/>
            <a:ext cx="1737360" cy="384048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E06A3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TASK 05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11E327C5-808E-4BAE-9AF7-157B9FDB6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600200"/>
            <a:ext cx="11064240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spcAft>
                <a:spcPts val="1000"/>
              </a:spcAft>
              <a:buNone/>
            </a:pPr>
            <a:r>
              <a:rPr sz="1600" b="0">
                <a:solidFill>
                  <a:srgbClr val="202433"/>
                </a:solidFill>
                <a:latin typeface="Microsoft YaHei"/>
                <a:ea typeface="Microsoft YaHei"/>
                <a:cs typeface="Microsoft YaHei"/>
              </a:rPr>
              <a:t>· 用 tvec 的模长计算距离；根据相机坐标系 x 向右、y 向下、z 向前，计算相机指向目标的 yaw 和 pitch。</a:t>
            </a:r>
          </a:p>
        </p:txBody>
      </p:sp>
      <p:sp>
        <p:nvSpPr>
          <p:cNvPr id="6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24E2B9D2-9722-4769-9A6D-9A390AE8F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514600"/>
            <a:ext cx="11109960" cy="27432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1E1E1E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201168" tIns="146304" rIns="164592" bIns="146304" anchor="ctr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</a:pPr>
            <a:r>
              <a:rPr sz="1350">
                <a:solidFill>
                  <a:srgbClr val="6A9955"/>
                </a:solidFill>
                <a:latin typeface="Consolas"/>
                <a:ea typeface="Consolas"/>
                <a:cs typeface="Consolas"/>
              </a:rPr>
              <a:t>// class/tasks/pose_solver.cpp</a:t>
            </a:r>
          </a:p>
          <a:p xmlns:a="http://schemas.openxmlformats.org/drawingml/2006/main">
            <a:pPr>
              <a:lnSpc>
                <a:spcPct val="105000"/>
              </a:lnSpc>
              <a:buNone/>
            </a:pPr>
            <a:r>
              <a:rPr sz="1350">
                <a:solidFill>
                  <a:srgbClr val="6A9955"/>
                </a:solidFill>
                <a:latin typeface="Consolas"/>
                <a:ea typeface="Consolas"/>
                <a:cs typeface="Consolas"/>
              </a:rPr>
              <a:t>// #### Task 05 ####################################</a:t>
            </a:r>
          </a:p>
          <a:p xmlns:a="http://schemas.openxmlformats.org/drawingml/2006/main">
            <a:pPr>
              <a:lnSpc>
                <a:spcPct val="105000"/>
              </a:lnSpc>
              <a:buNone/>
            </a:pPr>
            <a:r>
              <a:rPr sz="1350">
                <a:solidFill>
                  <a:srgbClr val="6A9955"/>
                </a:solidFill>
                <a:latin typeface="Consolas"/>
                <a:ea typeface="Consolas"/>
                <a:cs typeface="Consolas"/>
              </a:rPr>
              <a:t>const double range_m = cv::norm(pose.tvec);</a:t>
            </a:r>
          </a:p>
          <a:p xmlns:a="http://schemas.openxmlformats.org/drawingml/2006/main">
            <a:pPr>
              <a:lnSpc>
                <a:spcPct val="105000"/>
              </a:lnSpc>
              <a:buNone/>
            </a:pPr>
            <a:r>
              <a:rPr sz="135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const double yaw_deg = atan2(tvec[0], tvec[2])</a:t>
            </a:r>
          </a:p>
          <a:p xmlns:a="http://schemas.openxmlformats.org/drawingml/2006/main">
            <a:pPr>
              <a:lnSpc>
                <a:spcPct val="105000"/>
              </a:lnSpc>
              <a:buNone/>
            </a:pPr>
            <a:r>
              <a:rPr sz="135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   * 180.0 / CV_PI;</a:t>
            </a:r>
          </a:p>
          <a:p xmlns:a="http://schemas.openxmlformats.org/drawingml/2006/main">
            <a:pPr>
              <a:lnSpc>
                <a:spcPct val="105000"/>
              </a:lnSpc>
              <a:buNone/>
            </a:pPr>
            <a:r>
              <a:rPr sz="135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const double pitch_deg = atan2(</a:t>
            </a:r>
          </a:p>
          <a:p xmlns:a="http://schemas.openxmlformats.org/drawingml/2006/main">
            <a:pPr>
              <a:lnSpc>
                <a:spcPct val="105000"/>
              </a:lnSpc>
              <a:buNone/>
            </a:pPr>
            <a:r>
              <a:rPr sz="135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   -tvec[1], hypot(tvec[0], tvec[2]))</a:t>
            </a:r>
          </a:p>
          <a:p xmlns:a="http://schemas.openxmlformats.org/drawingml/2006/main">
            <a:pPr>
              <a:lnSpc>
                <a:spcPct val="105000"/>
              </a:lnSpc>
              <a:buNone/>
            </a:pPr>
            <a:r>
              <a:rPr sz="135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   * 180.0 / CV_PI;</a:t>
            </a:r>
          </a:p>
          <a:p xmlns:a="http://schemas.openxmlformats.org/drawingml/2006/main">
            <a:pPr>
              <a:lnSpc>
                <a:spcPct val="105000"/>
              </a:lnSpc>
              <a:buNone/>
            </a:pPr>
            <a:r>
              <a:rPr sz="1350">
                <a:solidFill>
                  <a:srgbClr val="6A9955"/>
                </a:solidFill>
                <a:latin typeface="Consolas"/>
                <a:ea typeface="Consolas"/>
                <a:cs typeface="Consolas"/>
              </a:rPr>
              <a:t/>
            </a:r>
          </a:p>
          <a:p xmlns:a="http://schemas.openxmlformats.org/drawingml/2006/main">
            <a:pPr>
              <a:lnSpc>
                <a:spcPct val="105000"/>
              </a:lnSpc>
              <a:buNone/>
            </a:pPr>
            <a:r>
              <a:rPr sz="1350">
                <a:solidFill>
                  <a:srgbClr val="6A9955"/>
                </a:solidFill>
                <a:latin typeface="Consolas"/>
                <a:ea typeface="Consolas"/>
                <a:cs typeface="Consolas"/>
              </a:rPr>
              <a:t>// 返回并显示 range_m、yaw_deg、pitch_deg。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4651B864-B61E-4BBA-A24B-19D1CA549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73952"/>
            <a:ext cx="86868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000">
                <a:solidFill>
                  <a:srgbClr val="5B6377"/>
                </a:solidFill>
                <a:latin typeface="Consolas"/>
                <a:ea typeface="Consolas"/>
                <a:cs typeface="Consolas"/>
              </a:rPr>
              <a:t>Hello Armor · 装甲板位姿解算    P5 动手实验二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2CC22BB1-77C1-49E9-AF82-2CAFD6711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5680" y="6473952"/>
            <a:ext cx="59436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000">
                <a:solidFill>
                  <a:srgbClr val="5B6377"/>
                </a:solidFill>
                <a:latin typeface="Consolas"/>
                <a:ea typeface="Consolas"/>
                <a:cs typeface="Consolas"/>
              </a:rPr>
              <a:t>28</a:t>
            </a:r>
          </a:p>
        </p:txBody>
      </p:sp>
    </p:spTree>
    <p:extLst>
      <p:ext uri="{BB962C8B-B14F-4D97-AF65-F5344CB8AC3E}">
        <p14:creationId xmlns:p14="http://schemas.microsoft.com/office/powerpoint/2010/main" val="1346754105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E569CA5C-E429-408B-A42D-70E86A657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20040"/>
            <a:ext cx="73152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400" b="1">
                <a:solidFill>
                  <a:srgbClr val="14C98C"/>
                </a:solidFill>
                <a:latin typeface="Consolas"/>
                <a:ea typeface="Consolas"/>
                <a:cs typeface="Consolas"/>
              </a:rPr>
              <a:t>P5 · 动手实验二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82F2E376-5E2C-4CBC-98C9-4928678A0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777240"/>
            <a:ext cx="1124712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3000" b="1">
                <a:solidFill>
                  <a:srgbClr val="202433"/>
                </a:solidFill>
                <a:latin typeface="Microsoft YaHei"/>
                <a:ea typeface="Microsoft YaHei"/>
                <a:cs typeface="Microsoft YaHei"/>
              </a:rPr>
              <a:t>现场演示 &amp; 互动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F409AD86-69A0-44F4-BED5-7B875F273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691640"/>
            <a:ext cx="6858000" cy="44805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spcAft>
                <a:spcPts val="1000"/>
              </a:spcAft>
              <a:buNone/>
            </a:pPr>
            <a:r>
              <a:rPr sz="2000" b="0">
                <a:solidFill>
                  <a:srgbClr val="202433"/>
                </a:solidFill>
                <a:latin typeface="Microsoft YaHei"/>
                <a:ea typeface="Microsoft YaHei"/>
                <a:cs typeface="Microsoft YaHei"/>
              </a:rPr>
              <a:t>· 检查绿点是否覆盖红点。故意交换两个点，观察重投影误差如何增大。</a:t>
            </a:r>
          </a:p>
          <a:p xmlns:a="http://schemas.openxmlformats.org/drawingml/2006/main">
            <a:pPr>
              <a:lnSpc>
                <a:spcPct val="118000"/>
              </a:lnSpc>
              <a:spcAft>
                <a:spcPts val="1000"/>
              </a:spcAft>
              <a:buNone/>
            </a:pPr>
            <a:r>
              <a:rPr sz="2000" b="0">
                <a:solidFill>
                  <a:srgbClr val="202433"/>
                </a:solidFill>
                <a:latin typeface="Microsoft YaHei"/>
                <a:ea typeface="Microsoft YaHei"/>
                <a:cs typeface="Microsoft YaHei"/>
              </a:rPr>
              <a:t>· 前后移动装甲板，观察 tvec.z 与距离如何变化。</a:t>
            </a:r>
          </a:p>
          <a:p xmlns:a="http://schemas.openxmlformats.org/drawingml/2006/main">
            <a:pPr>
              <a:lnSpc>
                <a:spcPct val="118000"/>
              </a:lnSpc>
              <a:spcAft>
                <a:spcPts val="1000"/>
              </a:spcAft>
              <a:buNone/>
            </a:pPr>
            <a:r>
              <a:rPr sz="2000" b="0">
                <a:solidFill>
                  <a:srgbClr val="202433"/>
                </a:solidFill>
                <a:latin typeface="Microsoft YaHei"/>
                <a:ea typeface="Microsoft YaHei"/>
                <a:cs typeface="Microsoft YaHei"/>
              </a:rPr>
              <a:t>· 绕板中心旋转装甲板，观察 rvec 如何变化，同时区分装甲板姿态与相机瞄准角。</a:t>
            </a:r>
          </a:p>
        </p:txBody>
      </p:sp>
      <p:sp>
        <p:nvSpPr>
          <p:cNvPr id="5" name="Rounded Rectangle 4">
            <a:extLst xmlns:a="http://schemas.openxmlformats.org/drawingml/2006/main">
              <a:ext uri="{FF2B5EF4-FFF2-40B4-BE49-F238E27FC236}">
                <a16:creationId xmlns:a16="http://schemas.microsoft.com/office/drawing/2014/main" id="{D6E0F06B-8752-4C51-886D-5B52E6E48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5240" y="1737360"/>
            <a:ext cx="3977639" cy="393192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E7EBF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300" i="1">
                <a:solidFill>
                  <a:srgbClr val="5B6377"/>
                </a:solidFill>
                <a:latin typeface="Microsoft YaHei"/>
                <a:ea typeface="Microsoft YaHei"/>
                <a:cs typeface="Microsoft YaHei"/>
              </a:rPr>
              <a:t>🖼  现场画面截图：</a:t>
            </a:r>
          </a:p>
          <a:p xmlns:a="http://schemas.openxmlformats.org/drawingml/2006/main">
            <a:pPr algn="ctr">
              <a:buNone/>
            </a:pPr>
            <a:r>
              <a:rPr sz="1300" i="1">
                <a:solidFill>
                  <a:srgbClr val="5B6377"/>
                </a:solidFill>
                <a:latin typeface="Microsoft YaHei"/>
                <a:ea typeface="Microsoft YaHei"/>
                <a:cs typeface="Microsoft YaHei"/>
              </a:rPr>
              <a:t>红色观测点、绿色重投影点、RMS 与瞄准角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B12AED8E-DACC-4D29-AA6C-D35903160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73952"/>
            <a:ext cx="86868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000">
                <a:solidFill>
                  <a:srgbClr val="5B6377"/>
                </a:solidFill>
                <a:latin typeface="Consolas"/>
                <a:ea typeface="Consolas"/>
                <a:cs typeface="Consolas"/>
              </a:rPr>
              <a:t>Hello Armor · 装甲板位姿解算    P5 动手实验二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AD1FF75B-1214-434B-9EE6-B76770622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5680" y="6473952"/>
            <a:ext cx="59436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000">
                <a:solidFill>
                  <a:srgbClr val="5B6377"/>
                </a:solidFill>
                <a:latin typeface="Consolas"/>
                <a:ea typeface="Consolas"/>
                <a:cs typeface="Consolas"/>
              </a:rPr>
              <a:t>29</a:t>
            </a:r>
          </a:p>
        </p:txBody>
      </p:sp>
    </p:spTree>
    <p:extLst>
      <p:ext uri="{BB962C8B-B14F-4D97-AF65-F5344CB8AC3E}">
        <p14:creationId xmlns:p14="http://schemas.microsoft.com/office/powerpoint/2010/main" val="394390968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0E16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7A86EA06-E99B-4D85-8AC0-4B9FF8A82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64592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C98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90ACC5BD-49AE-4FA1-9405-444B49C69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468880"/>
            <a:ext cx="2743200" cy="1280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6400" b="1">
                <a:solidFill>
                  <a:srgbClr val="14C98C"/>
                </a:solidFill>
                <a:latin typeface="Consolas"/>
                <a:ea typeface="Consolas"/>
                <a:cs typeface="Consolas"/>
              </a:rPr>
              <a:t>P6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D0BD1ACE-7EA6-492C-B18D-6DDBA42F0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1840" y="2697480"/>
            <a:ext cx="8229600" cy="1280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solidFill>
                  <a:srgbClr val="F3F5F9"/>
                </a:solidFill>
                <a:latin typeface="Microsoft YaHei"/>
                <a:ea typeface="Microsoft YaHei"/>
                <a:cs typeface="Microsoft YaHei"/>
              </a:rPr>
              <a:t>坐标系全景</a:t>
            </a:r>
          </a:p>
          <a:p xmlns:a="http://schemas.openxmlformats.org/drawingml/2006/main">
            <a:r>
              <a:rPr sz="1800">
                <a:solidFill>
                  <a:srgbClr val="A9B4C9"/>
                </a:solidFill>
                <a:latin typeface="Microsoft YaHei"/>
                <a:ea typeface="Microsoft YaHei"/>
                <a:cs typeface="Microsoft YaHei"/>
              </a:rPr>
              <a:t>从像素到机器人本体 / IMU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0B487DF9-EAB4-4A47-92F1-5219C580F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73952"/>
            <a:ext cx="86868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000">
                <a:solidFill>
                  <a:srgbClr val="A9B4C9"/>
                </a:solidFill>
                <a:latin typeface="Consolas"/>
                <a:ea typeface="Consolas"/>
                <a:cs typeface="Consolas"/>
              </a:rPr>
              <a:t>Hello Armor · 装甲板位姿解算    P6 坐标系全景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F7F0108F-AFBF-4214-AD30-F065792F1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5680" y="6473952"/>
            <a:ext cx="59436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000">
                <a:solidFill>
                  <a:srgbClr val="A9B4C9"/>
                </a:solidFill>
                <a:latin typeface="Consolas"/>
                <a:ea typeface="Consolas"/>
                <a:cs typeface="Consolas"/>
              </a:rPr>
              <a:t>30</a:t>
            </a:r>
          </a:p>
        </p:txBody>
      </p:sp>
    </p:spTree>
    <p:extLst>
      <p:ext uri="{BB962C8B-B14F-4D97-AF65-F5344CB8AC3E}">
        <p14:creationId xmlns:p14="http://schemas.microsoft.com/office/powerpoint/2010/main" val="778277074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128BE155-29C4-4DDD-8D58-C0ED1C0E9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20040"/>
            <a:ext cx="73152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400" b="1">
                <a:solidFill>
                  <a:srgbClr val="14C98C"/>
                </a:solidFill>
                <a:latin typeface="Consolas"/>
                <a:ea typeface="Consolas"/>
                <a:cs typeface="Consolas"/>
              </a:rPr>
              <a:t>P6 · 坐标系全景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F4286266-8EDB-4D6C-A02C-9B4BA086C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777240"/>
            <a:ext cx="1124712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3000" b="1">
                <a:solidFill>
                  <a:srgbClr val="202433"/>
                </a:solidFill>
                <a:latin typeface="Microsoft YaHei"/>
                <a:ea typeface="Microsoft YaHei"/>
                <a:cs typeface="Microsoft YaHei"/>
              </a:rPr>
              <a:t>我真的对准了吗？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911088C3-0957-41F7-BE3F-BCF9BE9E9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691640"/>
            <a:ext cx="6858000" cy="44805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spcAft>
                <a:spcPts val="1000"/>
              </a:spcAft>
              <a:buNone/>
            </a:pPr>
            <a:r>
              <a:rPr sz="2000" b="0">
                <a:solidFill>
                  <a:srgbClr val="202433"/>
                </a:solidFill>
                <a:latin typeface="Microsoft YaHei"/>
                <a:ea typeface="Microsoft YaHei"/>
                <a:cs typeface="Microsoft YaHei"/>
              </a:rPr>
              <a:t>· </a:t>
            </a:r>
            <a:r>
              <a:rPr sz="2000" b="1">
                <a:solidFill>
                  <a:srgbClr val="3D5AFE"/>
                </a:solidFill>
                <a:latin typeface="Microsoft YaHei"/>
                <a:ea typeface="Microsoft YaHei"/>
                <a:cs typeface="Microsoft YaHei"/>
              </a:rPr>
              <a:t>相机坐标系</a:t>
            </a:r>
            <a:r>
              <a:rPr sz="2000" b="0">
                <a:solidFill>
                  <a:srgbClr val="202433"/>
                </a:solidFill>
                <a:latin typeface="Microsoft YaHei"/>
                <a:ea typeface="Microsoft YaHei"/>
                <a:cs typeface="Microsoft YaHei"/>
              </a:rPr>
              <a:t>：与相机刚性连接的坐标系，随相机一起平移、旋转；原点 = 镜头光心</a:t>
            </a:r>
          </a:p>
          <a:p xmlns:a="http://schemas.openxmlformats.org/drawingml/2006/main">
            <a:pPr>
              <a:lnSpc>
                <a:spcPct val="118000"/>
              </a:lnSpc>
              <a:spcAft>
                <a:spcPts val="1000"/>
              </a:spcAft>
              <a:buNone/>
            </a:pPr>
            <a:r>
              <a:rPr sz="2000" b="0">
                <a:solidFill>
                  <a:srgbClr val="202433"/>
                </a:solidFill>
                <a:latin typeface="Microsoft YaHei"/>
                <a:ea typeface="Microsoft YaHei"/>
                <a:cs typeface="Microsoft YaHei"/>
              </a:rPr>
              <a:t>· </a:t>
            </a:r>
            <a:r>
              <a:rPr sz="2000" b="1">
                <a:solidFill>
                  <a:srgbClr val="3D5AFE"/>
                </a:solidFill>
                <a:latin typeface="Microsoft YaHei"/>
                <a:ea typeface="Microsoft YaHei"/>
                <a:cs typeface="Microsoft YaHei"/>
              </a:rPr>
              <a:t>思考</a:t>
            </a:r>
            <a:r>
              <a:rPr sz="2000" b="0">
                <a:solidFill>
                  <a:srgbClr val="202433"/>
                </a:solidFill>
                <a:latin typeface="Microsoft YaHei"/>
                <a:ea typeface="Microsoft YaHei"/>
                <a:cs typeface="Microsoft YaHei"/>
              </a:rPr>
              <a:t>：如果相机安装时有倾斜，并且和枪管不在同一个位置，会发生什么？</a:t>
            </a:r>
          </a:p>
          <a:p xmlns:a="http://schemas.openxmlformats.org/drawingml/2006/main">
            <a:pPr>
              <a:lnSpc>
                <a:spcPct val="118000"/>
              </a:lnSpc>
              <a:spcAft>
                <a:spcPts val="1000"/>
              </a:spcAft>
              <a:buNone/>
            </a:pPr>
            <a:r>
              <a:rPr sz="2000" b="0">
                <a:solidFill>
                  <a:srgbClr val="202433"/>
                </a:solidFill>
                <a:latin typeface="Microsoft YaHei"/>
                <a:ea typeface="Microsoft YaHei"/>
                <a:cs typeface="Microsoft YaHei"/>
              </a:rPr>
              <a:t>· 答案：仅靠“装甲板在相机坐标系下的位姿”还不够，还要知道相机相对枪管/机器人本体的安装关系</a:t>
            </a:r>
          </a:p>
        </p:txBody>
      </p:sp>
      <p:sp>
        <p:nvSpPr>
          <p:cNvPr id="5" name="Rounded Rectangle 4">
            <a:extLst xmlns:a="http://schemas.openxmlformats.org/drawingml/2006/main">
              <a:ext uri="{FF2B5EF4-FFF2-40B4-BE49-F238E27FC236}">
                <a16:creationId xmlns:a16="http://schemas.microsoft.com/office/drawing/2014/main" id="{6B36B8B0-6AF3-49E4-BE45-E22F5E1C5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5240" y="1737360"/>
            <a:ext cx="3977639" cy="393192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E7EBF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300" i="1">
                <a:solidFill>
                  <a:srgbClr val="5B6377"/>
                </a:solidFill>
                <a:latin typeface="Microsoft YaHei"/>
                <a:ea typeface="Microsoft YaHei"/>
                <a:cs typeface="Microsoft YaHei"/>
              </a:rPr>
              <a:t>🖼  相机与枪管不共轴的实拍照片
（两套坐标轴叠加标注）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481FEF86-DF22-4AB6-8134-4A7540E6E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73952"/>
            <a:ext cx="86868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000">
                <a:solidFill>
                  <a:srgbClr val="5B6377"/>
                </a:solidFill>
                <a:latin typeface="Consolas"/>
                <a:ea typeface="Consolas"/>
                <a:cs typeface="Consolas"/>
              </a:rPr>
              <a:t>Hello Armor · 装甲板位姿解算    P6 坐标系全景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244FD3B5-57B6-46D8-AC3C-904DF7DBA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5680" y="6473952"/>
            <a:ext cx="59436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000">
                <a:solidFill>
                  <a:srgbClr val="5B6377"/>
                </a:solidFill>
                <a:latin typeface="Consolas"/>
                <a:ea typeface="Consolas"/>
                <a:cs typeface="Consolas"/>
              </a:rPr>
              <a:t>31</a:t>
            </a:r>
          </a:p>
        </p:txBody>
      </p:sp>
    </p:spTree>
    <p:extLst>
      <p:ext uri="{BB962C8B-B14F-4D97-AF65-F5344CB8AC3E}">
        <p14:creationId xmlns:p14="http://schemas.microsoft.com/office/powerpoint/2010/main" val="2030100352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80D0F173-ADAF-4C7D-A758-0414FAC0A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20040"/>
            <a:ext cx="73152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400" b="1">
                <a:solidFill>
                  <a:srgbClr val="14C98C"/>
                </a:solidFill>
                <a:latin typeface="Consolas"/>
                <a:ea typeface="Consolas"/>
                <a:cs typeface="Consolas"/>
              </a:rPr>
              <a:t>P6 · 坐标系全景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8A1B7FCC-96E8-4BB6-9ED6-189FEB100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777240"/>
            <a:ext cx="1124712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3000" b="1">
                <a:solidFill>
                  <a:srgbClr val="202433"/>
                </a:solidFill>
                <a:latin typeface="Microsoft YaHei"/>
                <a:ea typeface="Microsoft YaHei"/>
                <a:cs typeface="Microsoft YaHei"/>
              </a:rPr>
              <a:t>完整的坐标变换链条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E5A76341-F761-4820-8C4A-749DE8239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691640"/>
            <a:ext cx="6858000" cy="44805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spcAft>
                <a:spcPts val="1000"/>
              </a:spcAft>
              <a:buNone/>
            </a:pPr>
            <a:r>
              <a:rPr sz="2000" b="0">
                <a:solidFill>
                  <a:srgbClr val="202433"/>
                </a:solidFill>
                <a:latin typeface="Microsoft YaHei"/>
                <a:ea typeface="Microsoft YaHei"/>
                <a:cs typeface="Microsoft YaHei"/>
              </a:rPr>
              <a:t>· </a:t>
            </a:r>
            <a:r>
              <a:rPr sz="2000" b="1">
                <a:solidFill>
                  <a:srgbClr val="3D5AFE"/>
                </a:solidFill>
                <a:latin typeface="Microsoft YaHei"/>
                <a:ea typeface="Microsoft YaHei"/>
                <a:cs typeface="Microsoft YaHei"/>
              </a:rPr>
              <a:t>像素坐标系</a:t>
            </a:r>
            <a:r>
              <a:rPr sz="2000" b="0">
                <a:solidFill>
                  <a:srgbClr val="202433"/>
                </a:solidFill>
                <a:latin typeface="Microsoft YaHei"/>
                <a:ea typeface="Microsoft YaHei"/>
                <a:cs typeface="Microsoft YaHei"/>
              </a:rPr>
              <a:t> --（今天学的 solvePnP）--&gt; </a:t>
            </a:r>
            <a:r>
              <a:rPr sz="2000" b="1">
                <a:solidFill>
                  <a:srgbClr val="3D5AFE"/>
                </a:solidFill>
                <a:latin typeface="Microsoft YaHei"/>
                <a:ea typeface="Microsoft YaHei"/>
                <a:cs typeface="Microsoft YaHei"/>
              </a:rPr>
              <a:t>相机坐标系</a:t>
            </a:r>
          </a:p>
          <a:p xmlns:a="http://schemas.openxmlformats.org/drawingml/2006/main">
            <a:pPr>
              <a:lnSpc>
                <a:spcPct val="118000"/>
              </a:lnSpc>
              <a:spcAft>
                <a:spcPts val="1000"/>
              </a:spcAft>
              <a:buNone/>
            </a:pPr>
            <a:r>
              <a:rPr sz="2000" b="0">
                <a:solidFill>
                  <a:srgbClr val="202433"/>
                </a:solidFill>
                <a:latin typeface="Microsoft YaHei"/>
                <a:ea typeface="Microsoft YaHei"/>
                <a:cs typeface="Microsoft YaHei"/>
              </a:rPr>
              <a:t>· </a:t>
            </a:r>
            <a:r>
              <a:rPr sz="2000" b="1">
                <a:solidFill>
                  <a:srgbClr val="3D5AFE"/>
                </a:solidFill>
                <a:latin typeface="Microsoft YaHei"/>
                <a:ea typeface="Microsoft YaHei"/>
                <a:cs typeface="Microsoft YaHei"/>
              </a:rPr>
              <a:t>相机坐标系</a:t>
            </a:r>
            <a:r>
              <a:rPr sz="2000" b="0">
                <a:solidFill>
                  <a:srgbClr val="202433"/>
                </a:solidFill>
                <a:latin typeface="Microsoft YaHei"/>
                <a:ea typeface="Microsoft YaHei"/>
                <a:cs typeface="Microsoft YaHei"/>
              </a:rPr>
              <a:t> --（手眼标定，进阶内容）--&gt; </a:t>
            </a:r>
            <a:r>
              <a:rPr sz="2000" b="1">
                <a:solidFill>
                  <a:srgbClr val="3D5AFE"/>
                </a:solidFill>
                <a:latin typeface="Microsoft YaHei"/>
                <a:ea typeface="Microsoft YaHei"/>
                <a:cs typeface="Microsoft YaHei"/>
              </a:rPr>
              <a:t>机器人本体坐标系</a:t>
            </a:r>
          </a:p>
          <a:p xmlns:a="http://schemas.openxmlformats.org/drawingml/2006/main">
            <a:pPr>
              <a:lnSpc>
                <a:spcPct val="118000"/>
              </a:lnSpc>
              <a:spcAft>
                <a:spcPts val="1000"/>
              </a:spcAft>
              <a:buNone/>
            </a:pPr>
            <a:r>
              <a:rPr sz="2000" b="0">
                <a:solidFill>
                  <a:srgbClr val="202433"/>
                </a:solidFill>
                <a:latin typeface="Microsoft YaHei"/>
                <a:ea typeface="Microsoft YaHei"/>
                <a:cs typeface="Microsoft YaHei"/>
              </a:rPr>
              <a:t>· </a:t>
            </a:r>
            <a:r>
              <a:rPr sz="2000" b="1">
                <a:solidFill>
                  <a:srgbClr val="3D5AFE"/>
                </a:solidFill>
                <a:latin typeface="Microsoft YaHei"/>
                <a:ea typeface="Microsoft YaHei"/>
                <a:cs typeface="Microsoft YaHei"/>
              </a:rPr>
              <a:t>机器人本体坐标系</a:t>
            </a:r>
            <a:r>
              <a:rPr sz="2000" b="0">
                <a:solidFill>
                  <a:srgbClr val="202433"/>
                </a:solidFill>
                <a:latin typeface="Microsoft YaHei"/>
                <a:ea typeface="Microsoft YaHei"/>
                <a:cs typeface="Microsoft YaHei"/>
              </a:rPr>
              <a:t> --（实际测量安装）--&gt; </a:t>
            </a:r>
            <a:r>
              <a:rPr sz="2000" b="1">
                <a:solidFill>
                  <a:srgbClr val="3D5AFE"/>
                </a:solidFill>
                <a:latin typeface="Microsoft YaHei"/>
                <a:ea typeface="Microsoft YaHei"/>
                <a:cs typeface="Microsoft YaHei"/>
              </a:rPr>
              <a:t>IMU 坐标系</a:t>
            </a:r>
          </a:p>
          <a:p xmlns:a="http://schemas.openxmlformats.org/drawingml/2006/main">
            <a:pPr>
              <a:lnSpc>
                <a:spcPct val="118000"/>
              </a:lnSpc>
              <a:spcAft>
                <a:spcPts val="1000"/>
              </a:spcAft>
              <a:buNone/>
            </a:pPr>
            <a:r>
              <a:rPr sz="2000" b="0">
                <a:solidFill>
                  <a:srgbClr val="202433"/>
                </a:solidFill>
                <a:latin typeface="Microsoft YaHei"/>
                <a:ea typeface="Microsoft YaHei"/>
                <a:cs typeface="Microsoft YaHei"/>
              </a:rPr>
              <a:t>· 今天我们打通了第一环；手眼标定和运动预测（卡尔曼滤波）留给后续课程</a:t>
            </a:r>
          </a:p>
        </p:txBody>
      </p:sp>
      <p:sp>
        <p:nvSpPr>
          <p:cNvPr id="5" name="Rounded Rectangle 4">
            <a:extLst xmlns:a="http://schemas.openxmlformats.org/drawingml/2006/main">
              <a:ext uri="{FF2B5EF4-FFF2-40B4-BE49-F238E27FC236}">
                <a16:creationId xmlns:a16="http://schemas.microsoft.com/office/drawing/2014/main" id="{8BFC607E-D7BD-4ECA-A657-FD3A4F9F4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5240" y="1737360"/>
            <a:ext cx="3977639" cy="393192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E7EBF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300" i="1">
                <a:solidFill>
                  <a:srgbClr val="5B6377"/>
                </a:solidFill>
                <a:latin typeface="Microsoft YaHei"/>
                <a:ea typeface="Microsoft YaHei"/>
                <a:cs typeface="Microsoft YaHei"/>
              </a:rPr>
              <a:t>🖼  实物机器人标注 imu / base_link /
camera 三套坐标轴的照片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19BA59A9-7C1B-436F-8E07-C92C6CE10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73952"/>
            <a:ext cx="86868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000">
                <a:solidFill>
                  <a:srgbClr val="5B6377"/>
                </a:solidFill>
                <a:latin typeface="Consolas"/>
                <a:ea typeface="Consolas"/>
                <a:cs typeface="Consolas"/>
              </a:rPr>
              <a:t>Hello Armor · 装甲板位姿解算    P6 坐标系全景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8E811003-0EE1-45DB-AD59-EB033889E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5680" y="6473952"/>
            <a:ext cx="59436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000">
                <a:solidFill>
                  <a:srgbClr val="5B6377"/>
                </a:solidFill>
                <a:latin typeface="Consolas"/>
                <a:ea typeface="Consolas"/>
                <a:cs typeface="Consolas"/>
              </a:rPr>
              <a:t>32</a:t>
            </a:r>
          </a:p>
        </p:txBody>
      </p:sp>
    </p:spTree>
    <p:extLst>
      <p:ext uri="{BB962C8B-B14F-4D97-AF65-F5344CB8AC3E}">
        <p14:creationId xmlns:p14="http://schemas.microsoft.com/office/powerpoint/2010/main" val="743954166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0E16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2614E7DA-01D4-4911-9867-D1FA409F7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64592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C98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6B1164B5-B8DC-479E-AD98-BB1C2F054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468880"/>
            <a:ext cx="2743200" cy="1280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6400" b="1">
                <a:solidFill>
                  <a:srgbClr val="14C98C"/>
                </a:solidFill>
                <a:latin typeface="Consolas"/>
                <a:ea typeface="Consolas"/>
                <a:cs typeface="Consolas"/>
              </a:rPr>
              <a:t>P7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CF381BA6-3B55-4703-9FB4-51F02F432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1840" y="2697480"/>
            <a:ext cx="8229600" cy="1280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solidFill>
                  <a:srgbClr val="F3F5F9"/>
                </a:solidFill>
                <a:latin typeface="Microsoft YaHei"/>
                <a:ea typeface="Microsoft YaHei"/>
                <a:cs typeface="Microsoft YaHei"/>
              </a:rPr>
              <a:t>总结与作业</a:t>
            </a:r>
          </a:p>
          <a:p xmlns:a="http://schemas.openxmlformats.org/drawingml/2006/main">
            <a:r>
              <a:rPr sz="1800">
                <a:solidFill>
                  <a:srgbClr val="A9B4C9"/>
                </a:solidFill>
                <a:latin typeface="Microsoft YaHei"/>
                <a:ea typeface="Microsoft YaHei"/>
                <a:cs typeface="Microsoft YaHei"/>
              </a:rPr>
              <a:t>回顾、答疑、布置任务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82B3C4DB-B75E-4B04-B6B8-5A2310C17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73952"/>
            <a:ext cx="86868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000">
                <a:solidFill>
                  <a:srgbClr val="A9B4C9"/>
                </a:solidFill>
                <a:latin typeface="Consolas"/>
                <a:ea typeface="Consolas"/>
                <a:cs typeface="Consolas"/>
              </a:rPr>
              <a:t>Hello Armor · 装甲板位姿解算    P7 总结与作业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C2B87DAF-023C-4FBE-BC90-3FF5ACFB1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5680" y="6473952"/>
            <a:ext cx="59436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000">
                <a:solidFill>
                  <a:srgbClr val="A9B4C9"/>
                </a:solidFill>
                <a:latin typeface="Consolas"/>
                <a:ea typeface="Consolas"/>
                <a:cs typeface="Consolas"/>
              </a:rPr>
              <a:t>33</a:t>
            </a:r>
          </a:p>
        </p:txBody>
      </p:sp>
    </p:spTree>
    <p:extLst>
      <p:ext uri="{BB962C8B-B14F-4D97-AF65-F5344CB8AC3E}">
        <p14:creationId xmlns:p14="http://schemas.microsoft.com/office/powerpoint/2010/main" val="958693592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475FC521-D8EF-436C-811D-FD70BFBEF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20040"/>
            <a:ext cx="73152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400" b="1">
                <a:solidFill>
                  <a:srgbClr val="14C98C"/>
                </a:solidFill>
                <a:latin typeface="Consolas"/>
                <a:ea typeface="Consolas"/>
                <a:cs typeface="Consolas"/>
              </a:rPr>
              <a:t>P7 · 总结与作业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D1B22E84-88FC-490C-B22F-930D26134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777240"/>
            <a:ext cx="1124712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3000" b="1">
                <a:solidFill>
                  <a:srgbClr val="202433"/>
                </a:solidFill>
                <a:latin typeface="Microsoft YaHei"/>
                <a:ea typeface="Microsoft YaHei"/>
                <a:cs typeface="Microsoft YaHei"/>
              </a:rPr>
              <a:t>本讲回顾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4CAB23E3-074E-4D57-B69F-4270250F3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691640"/>
            <a:ext cx="10881360" cy="44805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spcAft>
                <a:spcPts val="1000"/>
              </a:spcAft>
              <a:buNone/>
            </a:pPr>
            <a:r>
              <a:rPr sz="1800" b="0">
                <a:solidFill>
                  <a:srgbClr val="202433"/>
                </a:solidFill>
                <a:latin typeface="Microsoft YaHei"/>
                <a:ea typeface="Microsoft YaHei"/>
                <a:cs typeface="Microsoft YaHei"/>
              </a:rPr>
              <a:t>· PnP 需要已知几何尺寸、严格一一对应的 3D-2D 点，以及当前镜头和分辨率匹配的相机标定参数。</a:t>
            </a:r>
          </a:p>
          <a:p xmlns:a="http://schemas.openxmlformats.org/drawingml/2006/main">
            <a:pPr>
              <a:lnSpc>
                <a:spcPct val="118000"/>
              </a:lnSpc>
              <a:spcAft>
                <a:spcPts val="1000"/>
              </a:spcAft>
              <a:buNone/>
            </a:pPr>
            <a:r>
              <a:rPr sz="1800" b="0">
                <a:solidFill>
                  <a:srgbClr val="202433"/>
                </a:solidFill>
                <a:latin typeface="Microsoft YaHei"/>
                <a:ea typeface="Microsoft YaHei"/>
                <a:cs typeface="Microsoft YaHei"/>
              </a:rPr>
              <a:t>· `solvePnP` 求解 X_camera = R · X_armor + t。tvec 是目标中心在相机系下的位置，rvec 是装甲板的旋转向量。</a:t>
            </a:r>
          </a:p>
          <a:p xmlns:a="http://schemas.openxmlformats.org/drawingml/2006/main">
            <a:pPr>
              <a:lnSpc>
                <a:spcPct val="118000"/>
              </a:lnSpc>
              <a:spcAft>
                <a:spcPts val="1000"/>
              </a:spcAft>
              <a:buNone/>
            </a:pPr>
            <a:r>
              <a:rPr sz="1800" b="0">
                <a:solidFill>
                  <a:srgbClr val="202433"/>
                </a:solidFill>
                <a:latin typeface="Microsoft YaHei"/>
                <a:ea typeface="Microsoft YaHei"/>
                <a:cs typeface="Microsoft YaHei"/>
              </a:rPr>
              <a:t>· 重投影 RMS 把解算结果重新投回图像，是检查点序、尺寸和标定是否可信的第一道工程检查。</a:t>
            </a:r>
          </a:p>
          <a:p xmlns:a="http://schemas.openxmlformats.org/drawingml/2006/main">
            <a:pPr>
              <a:lnSpc>
                <a:spcPct val="118000"/>
              </a:lnSpc>
              <a:spcAft>
                <a:spcPts val="1000"/>
              </a:spcAft>
              <a:buNone/>
            </a:pPr>
            <a:r>
              <a:rPr sz="1800" b="0">
                <a:solidFill>
                  <a:srgbClr val="202433"/>
                </a:solidFill>
                <a:latin typeface="Microsoft YaHei"/>
                <a:ea typeface="Microsoft YaHei"/>
                <a:cs typeface="Microsoft YaHei"/>
              </a:rPr>
              <a:t>· Task 05 的距离和瞄准 yaw/pitch 来自 tvec；装甲板欧拉角来自 rvec，二者含义不同。</a:t>
            </a:r>
          </a:p>
          <a:p xmlns:a="http://schemas.openxmlformats.org/drawingml/2006/main">
            <a:pPr>
              <a:lnSpc>
                <a:spcPct val="118000"/>
              </a:lnSpc>
              <a:spcAft>
                <a:spcPts val="1000"/>
              </a:spcAft>
              <a:buNone/>
            </a:pPr>
            <a:r>
              <a:rPr sz="1800" b="0">
                <a:solidFill>
                  <a:srgbClr val="202433"/>
                </a:solidFill>
                <a:latin typeface="Microsoft YaHei"/>
                <a:ea typeface="Microsoft YaHei"/>
                <a:cs typeface="Microsoft YaHei"/>
              </a:rPr>
              <a:t>· 像素到相机是今天完成的一环，后续还需手眼标定和 IMU 坐标变换。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FC13E1C9-0FC0-40E4-B3C7-A01F8D1EC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73952"/>
            <a:ext cx="86868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000">
                <a:solidFill>
                  <a:srgbClr val="5B6377"/>
                </a:solidFill>
                <a:latin typeface="Consolas"/>
                <a:ea typeface="Consolas"/>
                <a:cs typeface="Consolas"/>
              </a:rPr>
              <a:t>Hello Armor · 装甲板位姿解算    P7 总结与作业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ACC00FD6-4275-4884-AC26-F60A21355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5680" y="6473952"/>
            <a:ext cx="59436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000">
                <a:solidFill>
                  <a:srgbClr val="5B6377"/>
                </a:solidFill>
                <a:latin typeface="Consolas"/>
                <a:ea typeface="Consolas"/>
                <a:cs typeface="Consolas"/>
              </a:rPr>
              <a:t>34</a:t>
            </a:r>
          </a:p>
        </p:txBody>
      </p:sp>
    </p:spTree>
    <p:extLst>
      <p:ext uri="{BB962C8B-B14F-4D97-AF65-F5344CB8AC3E}">
        <p14:creationId xmlns:p14="http://schemas.microsoft.com/office/powerpoint/2010/main" val="2064604124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55BE64D1-B445-45D5-A1DA-47A4BB255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20040"/>
            <a:ext cx="73152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400" b="1">
                <a:solidFill>
                  <a:srgbClr val="14C98C"/>
                </a:solidFill>
                <a:latin typeface="Consolas"/>
                <a:ea typeface="Consolas"/>
                <a:cs typeface="Consolas"/>
              </a:rPr>
              <a:t>P7 · 总结与作业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92CD2B6E-E3E9-424B-BAFE-E18F24833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777240"/>
            <a:ext cx="1124712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3000" b="1">
                <a:solidFill>
                  <a:srgbClr val="202433"/>
                </a:solidFill>
                <a:latin typeface="Microsoft YaHei"/>
                <a:ea typeface="Microsoft YaHei"/>
                <a:cs typeface="Microsoft YaHei"/>
              </a:rPr>
              <a:t>课后作业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141C1950-3400-4B0F-8589-A675162E5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691640"/>
            <a:ext cx="10881360" cy="44805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spcAft>
                <a:spcPts val="1000"/>
              </a:spcAft>
              <a:buNone/>
            </a:pPr>
            <a:r>
              <a:rPr sz="2000" b="0">
                <a:solidFill>
                  <a:srgbClr val="202433"/>
                </a:solidFill>
                <a:latin typeface="Microsoft YaHei"/>
                <a:ea typeface="Microsoft YaHei"/>
                <a:cs typeface="Microsoft YaHei"/>
              </a:rPr>
              <a:t>· ① 必做：完成 Task 01 至 Task 05，画面显示 tvec、rvec、距离、瞄准 yaw/pitch 和重投影 RMS；运行 `ctest --test-dir build --output-on-failure`。</a:t>
            </a:r>
          </a:p>
          <a:p xmlns:a="http://schemas.openxmlformats.org/drawingml/2006/main">
            <a:pPr>
              <a:lnSpc>
                <a:spcPct val="118000"/>
              </a:lnSpc>
              <a:spcAft>
                <a:spcPts val="1000"/>
              </a:spcAft>
              <a:buNone/>
            </a:pPr>
            <a:r>
              <a:rPr sz="2000" b="0">
                <a:solidFill>
                  <a:srgbClr val="202433"/>
                </a:solidFill>
                <a:latin typeface="Microsoft YaHei"/>
                <a:ea typeface="Microsoft YaHei"/>
                <a:cs typeface="Microsoft YaHei"/>
              </a:rPr>
              <a:t>· ② 进阶：实现 rvec 到欧拉角的转换，写清采用的坐标系和旋转顺序，并解释它与瞄准 yaw/pitch 的区别。</a:t>
            </a:r>
          </a:p>
          <a:p xmlns:a="http://schemas.openxmlformats.org/drawingml/2006/main">
            <a:pPr>
              <a:lnSpc>
                <a:spcPct val="118000"/>
              </a:lnSpc>
              <a:spcAft>
                <a:spcPts val="1000"/>
              </a:spcAft>
              <a:buNone/>
            </a:pPr>
            <a:r>
              <a:rPr sz="2000" b="0">
                <a:solidFill>
                  <a:srgbClr val="202433"/>
                </a:solidFill>
                <a:latin typeface="Microsoft YaHei"/>
                <a:ea typeface="Microsoft YaHei"/>
                <a:cs typeface="Microsoft YaHei"/>
              </a:rPr>
              <a:t>· ③ 项目：接入上节课自己的 Camera + Detector，用当前分辨率重新标定后实时显示装甲板位姿。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35B32C06-AE7B-42F3-8EB8-5825B08D0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73952"/>
            <a:ext cx="86868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000">
                <a:solidFill>
                  <a:srgbClr val="5B6377"/>
                </a:solidFill>
                <a:latin typeface="Consolas"/>
                <a:ea typeface="Consolas"/>
                <a:cs typeface="Consolas"/>
              </a:rPr>
              <a:t>Hello Armor · 装甲板位姿解算    P7 总结与作业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4733F4D2-015C-4B91-8186-799497C0D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5680" y="6473952"/>
            <a:ext cx="59436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000">
                <a:solidFill>
                  <a:srgbClr val="5B6377"/>
                </a:solidFill>
                <a:latin typeface="Consolas"/>
                <a:ea typeface="Consolas"/>
                <a:cs typeface="Consolas"/>
              </a:rPr>
              <a:t>35</a:t>
            </a:r>
          </a:p>
        </p:txBody>
      </p:sp>
    </p:spTree>
    <p:extLst>
      <p:ext uri="{BB962C8B-B14F-4D97-AF65-F5344CB8AC3E}">
        <p14:creationId xmlns:p14="http://schemas.microsoft.com/office/powerpoint/2010/main" val="963155702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0E16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72F66A65-F7BC-4AA1-85E8-3D4F00AA9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64592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C98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C54BFA08-A6F2-4387-B277-19EA09115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560320"/>
            <a:ext cx="9144000" cy="1097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4800" b="1">
                <a:solidFill>
                  <a:srgbClr val="F3F5F9"/>
                </a:solidFill>
                <a:latin typeface="Microsoft YaHei"/>
                <a:ea typeface="Microsoft YaHei"/>
                <a:cs typeface="Microsoft YaHei"/>
              </a:rPr>
              <a:t>Thanks · Q&amp;A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86108314-087C-4CEE-BAE8-7117C98F6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3566160"/>
            <a:ext cx="9601200" cy="1097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800">
                <a:solidFill>
                  <a:srgbClr val="A9B4C9"/>
                </a:solidFill>
                <a:latin typeface="Microsoft YaHei"/>
                <a:ea typeface="Microsoft YaHei"/>
                <a:cs typeface="Microsoft YaHei"/>
              </a:rPr>
              <a:t>下一讲预告：相机 - 云台手眼标定 与 装甲板运动预测（卡尔曼滤波）</a:t>
            </a:r>
          </a:p>
        </p:txBody>
      </p:sp>
    </p:spTree>
    <p:extLst>
      <p:ext uri="{BB962C8B-B14F-4D97-AF65-F5344CB8AC3E}">
        <p14:creationId xmlns:p14="http://schemas.microsoft.com/office/powerpoint/2010/main" val="44224641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2026-09-17T02:48:46.0570000Z</dcterms:created>
  <dcterms:modified xsi:type="dcterms:W3CDTF">2026-09-17T02:48:46.0570000Z</dcterms:modified>
</coreProperties>
</file>