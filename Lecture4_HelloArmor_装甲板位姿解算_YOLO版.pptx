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C98C"/>
                </a:solidFill>
                <a:latin typeface="Consolas"/>
              </a:rPr>
              <a:t>视觉组第四讲 · HELLO ARMOR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3F5F9"/>
                </a:solidFill>
                <a:latin typeface="Microsoft YaHei"/>
              </a:rPr>
              <a:t>装甲板位姿解算</a:t>
            </a:r>
          </a:p>
          <a:p>
            <a:r>
              <a:rPr sz="2000">
                <a:solidFill>
                  <a:srgbClr val="A9B4C9"/>
                </a:solidFill>
                <a:latin typeface="Microsoft YaHei"/>
              </a:rPr>
              <a:t>从 2D 识别结果到 3D 位姿：cv::solvePnP 全流程实战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9B4C9"/>
                </a:solidFill>
                <a:latin typeface="Microsoft YaHei"/>
              </a:rPr>
              <a:t>主讲人：______　　助教：______　　时长：90 分钟　　承接 Lecture 3《Hello Modern C++》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45720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SP 队徽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课程地图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今天 90 分钟，我们要走完这条链路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00200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复习导入：你 lecture2 作业里那套 YOLO 检测器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1600200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67128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67128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67128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为什么装甲板需要“位姿”而不只是位置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167128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6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34056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34056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34056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PnP 原理与 cv::solvePnP 接口精讲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734056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13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00984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00984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00984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动手实验一：Task 01~03，解出 tvec / rvec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300984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24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67912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67912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67912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rvec 揭秘：旋转向量／矩阵／欧拉角／四元数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867912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14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434840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34840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434840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动手实验二：Task 04~05，把旋转变成角度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434840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16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001768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001768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001768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坐标系全景：从像素到机器人本体 / IMU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5001768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6 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568696"/>
            <a:ext cx="777240" cy="420624"/>
          </a:xfrm>
          <a:prstGeom prst="roundRect">
            <a:avLst>
              <a:gd name="adj" fmla="val 6000"/>
            </a:avLst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568696"/>
            <a:ext cx="777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568696"/>
            <a:ext cx="877824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>
                <a:solidFill>
                  <a:srgbClr val="202433"/>
                </a:solidFill>
                <a:latin typeface="Microsoft YaHei"/>
              </a:rPr>
              <a:t>总结、答疑与作业布置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5568696"/>
            <a:ext cx="12801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>
                <a:solidFill>
                  <a:srgbClr val="5B6377"/>
                </a:solidFill>
                <a:latin typeface="Consolas"/>
              </a:rPr>
              <a:t>3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P0 课程地图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复习导入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上节课我们手里有了什么？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P0 复习导入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P0 · 复习导入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上节课回顾（Hello Modern C++）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C/C++ 编译与 CMake：会写 CMakeLists.txt，能编译、运行自己的工程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面向对象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：类 = 属性 + 方法；构造/析构函数；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封装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——数据安全、隐藏实现、便于协作、防止耦合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已经写好的两个类：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Camera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 类：封装取图细节，对外只给一帧图像 + 时间戳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YOLO 检测器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：目标是识别装甲板并分类（位置、颜色、数字）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今天用的就是你在 lecture2 作业里跑通的那套检测器——tasks/ 和 tools/ 一行没改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作业：连接工业相机，封装相机类，用神经网络识别装甲板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P0 复习导入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P0 · 复习导入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现在，程序手里已经有了什么？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detector.detect(img)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返回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armors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（一个 Armor 列表）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Armor.points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就是 YOLO 直接回归出来的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4 个关键点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（左上、右上、右下、左下）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YOLO-pose 是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端到端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的一步：图片进去，类别 + 4 个关键点出来，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中间没有“灯条配对”这个步骤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⚠ Armor 里虽然还留着 left / right 两个成员，但走 YOLO 这条路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从未给它们赋值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，取出来全是 (0,0)——那是传统灯条法的历史包袱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也就是说：识别这一步，已经把“装甲板在哪张图的哪个位置”这件事解决了</a:t>
            </a:r>
          </a:p>
        </p:txBody>
      </p:sp>
      <p:pic>
        <p:nvPicPr>
          <p:cNvPr id="5" name="Picture 4" descr="s05_armor_str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84609"/>
            <a:ext cx="3977639" cy="22374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P0 复习导入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P0 · 复习导入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只有这 4 个 2D 点，够瞄准吗？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看两张图：3 号车比 4 号车离我们更远 —— 人眼一眼就能判断距离，程序呢？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再看三张图：同一块装甲板，角度都不一样 —— 这是“朝向”的差异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提问互动：仅凭图像上 4 个像素点的坐标，你能猜出装甲板离相机多远、朝哪个方向偏吗？</a:t>
            </a:r>
          </a:p>
        </p:txBody>
      </p:sp>
      <p:pic>
        <p:nvPicPr>
          <p:cNvPr id="5" name="Picture 4" descr="s06_distance_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112264"/>
            <a:ext cx="3977639" cy="31821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5715000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5B6377"/>
                </a:solidFill>
                <a:latin typeface="Microsoft YaHei"/>
              </a:rPr>
              <a:t>引导学生讨论后再进入下一部分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P0 复习导入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为什么需要位姿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位置够不够？朝向怎么描述？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P1 为什么需要位姿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P1 · 为什么需要位姿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位姿 = 位置 + 朝向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位置（Position）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：一个三维向量 (x, y, z)，装甲板中心在相机坐标系下的坐标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朝向（Orientation / Rotation）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：装甲板“转了多少度、往哪边转”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直观理解朝向——借用飞机的三个转动自由度：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偏航 yaw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：绕“上下轴”转，改变朝向左右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俯仰 pitch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：绕“左右轴”转，改变抬头低头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横滚 roll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：绕“前后轴”转，改变侧向倾斜</a:t>
            </a:r>
          </a:p>
        </p:txBody>
      </p:sp>
      <p:pic>
        <p:nvPicPr>
          <p:cNvPr id="5" name="Picture 4" descr="s08_yaw_pitch_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677835"/>
            <a:ext cx="3977639" cy="20509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P1 · 为什么需要位姿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先认清两个坐标系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装甲板局部坐标系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：原点在装甲板中心，x 向右、y 向下、z 指向板外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物理尺寸（今天要用到）：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ARMOR_WIDTH = 0.135 m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（灯条间宽），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LIGHTBAR_LENGTH = 0.056 m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（单根灯条长）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相机坐标系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：原点是镜头光心，随相机刚体一起平移、旋转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我们的目标：算出“装甲板坐标系”相对“相机坐标系”的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 R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和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平移 t</a:t>
            </a:r>
          </a:p>
        </p:txBody>
      </p:sp>
      <p:pic>
        <p:nvPicPr>
          <p:cNvPr id="5" name="Picture 4" descr="s09_two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646759"/>
            <a:ext cx="3977639" cy="21131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P1 · 为什么需要位姿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工程上为什么必须要“姿态”，不只是“位置”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①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相机和枪管往往不重合、不共轴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—— 只用 2D 画面中心瞄准，会有系统性偏差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②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真实机器人会自转、会移动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，姿态千变万化 —— 需要用装甲板姿态反推它的旋转中心，才能预测它下一刻在哪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一句话：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2D 检测解决“看见”，3D 位姿解决“打中”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相机与枪管不共轴示意图 +
机器人自转底盘照片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PnP 原理与 API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从对应点到位姿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P2 PnP 原理与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P2 · PnP 原理与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Perspective-n-Points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已知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n 组对应点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物体局部坐标系下的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n 个三维点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（我们知道装甲板多大、点在哪）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图像上对应的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n 个二维像素点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（检测器已经给出来了）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再加上相机的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内参（焦距、主点）和畸变系数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求解：物体相对相机的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 R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和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平移 t</a:t>
            </a:r>
          </a:p>
        </p:txBody>
      </p:sp>
      <p:pic>
        <p:nvPicPr>
          <p:cNvPr id="5" name="Picture 4" descr="s12_pnp_princ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84609"/>
            <a:ext cx="3977639" cy="22374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P2 PnP 原理与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P2 · PnP 原理与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cv::solvePnP 函数签名精讲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OpenCV 已经把 PnP 问题的求解封装成了一个函数，我们只管“喂数据”：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11109960" cy="28346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bool cv::solvePnP(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InputArray  objectPoints,   // 输入：物体局部坐标系下的 n 个点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InputArray  imagePoints,    // 输入：图像上对应的 n 个点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InputArray  cameraMatrix,   // 输入：相机内参矩阵（我们会提供）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InputArray  distCoeffs,     // 输入：畸变系数（我们会提供）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OutputArray rvec,           // 输出：旋转向量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OutputArray tvec,           // 输出：平移向量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bool useExtrinsicGuess = false,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int  flags = SOLVEPNP_ITERATIVE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P2 PnP 原理与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P2 · PnP 原理与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输出到底是什么？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tvec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：一个 3×1 向量 —— 装甲板坐标系原点，在相机坐标系下的位置（平移向量）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rvec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：也是一个 3×1 向量，代表旋转……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rvec 具体是什么？先卖个关子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—— 我们先把代码跑起来，等会儿亲手转一转装甲板，你就懂了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装甲板坐标轴照片 + 相机坐标轴照片
（并排对比）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P2 PnP 原理与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动手实验一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Task 01~03：解出 tvec / rvec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P3 · 动手实验一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实验环境 &amp; 点位约定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打开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lecture4/yolo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工程：所有填空都在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src/main.cpp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一个文件里；`tasks/` 下的 YOLO 检测器就是你 lecture2 作业里那一份，一个字没改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先确认环境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：`cd lecture4/yolo &amp;&amp; cmake -B build`。这一步课前已经验过，课上只花 30 秒确认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运行目录有约束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：configs / assets / logs 都按相对路径找，必须在 `lecture4/yolo/` 下运行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约法三章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：这 20 分钟不要打开 `answer/main.cpp`；卡住了举手。等你自己的跑起来，我在投影上跑参考版对照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关键约定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：4 个关键点的顺序 —— 左上、右上、右下、左下（自左上顺时针）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物理上它们就是左灯条顶端 / 右灯条顶端 / 右灯条底端 / 左灯条底端，但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程序里没有“灯条”这个对象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了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这个顺序在 object_points 和 img_points 里必须完全一致，否则解出来的位姿是错的</a:t>
            </a:r>
          </a:p>
        </p:txBody>
      </p:sp>
      <p:pic>
        <p:nvPicPr>
          <p:cNvPr id="5" name="Picture 4" descr="s16_armor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112264"/>
            <a:ext cx="3977639" cy="31821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P3 · 动手实验一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Task 01 · 填写 object_points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50292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E06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TASK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在装甲板</a:t>
            </a:r>
            <a:r>
              <a:rPr b="1" sz="1600">
                <a:solidFill>
                  <a:srgbClr val="3D5AFE"/>
                </a:solidFill>
                <a:latin typeface="Microsoft YaHei"/>
              </a:rPr>
              <a:t>局部坐标系</a:t>
            </a:r>
            <a:r>
              <a:rPr b="0" sz="1600">
                <a:solidFill>
                  <a:srgbClr val="202433"/>
                </a:solidFill>
                <a:latin typeface="Microsoft YaHei"/>
              </a:rPr>
              <a:t>下写出 4 个点的 (x, y, 0) 坐标，结合 ARMOR_WIDTH / LIGHTBAR_LENGTH 和上一页的点序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109960" cy="30632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static const double LIGHTBAR_LENGTH = 0.056;  // 灯条长度  单位: 米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static const double ARMOR_WIDTH     = 0.135;  // 装甲板宽度 单位: 米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#### Task 01 ####################################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object_points 是 物体局部坐标系下 n 个点 的坐标，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也就是装甲板坐标系下 4 个点的坐标。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static const std::vector&lt;cv::Point3f&gt; object_points {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{      ,      , 0 },  // 点 1  左上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{      ,      , 0 },  // 点 2  右上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{      ,      , 0 },  // 点 3  右下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{      ,      , 0 }   // 点 4  左下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8756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400">
                <a:solidFill>
                  <a:srgbClr val="5B6377"/>
                </a:solidFill>
                <a:latin typeface="Microsoft YaHei"/>
              </a:rPr>
              <a:t>· 提示：原点在板中心，x 向右为正、y 向下为正，半宽 = ARMOR_WIDTH/2，半高 = LIGHTBAR_LENGTH/2；请用 ± ARMOR_WIDTH / 2 这样的表达式填写（代码中的模板已被注释，先解注释再填）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P3 · 动手实验一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点序陷阱：注释是错的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`tasks/armor.hpp` 里关于 `Armor::points` 的注释写的是「左上、左下、右下、右上」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实测下来是「左上、右上、右下、左下」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—— 注释和真实顺序正好反了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怎么证明（现场 3 秒）：`draw_points` 已经在画那 4 个点了，按下标标上 0/1/2/3 就能看出来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更硬的办法：把 object_points 换成注释里那个顺序，重编一次，看 `reproj err` 从个位数跳到几十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这是本讲最值得带走的一条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：注释是人写的、会过期；代码和数据不会撒谎，冲突时信实测</a:t>
            </a:r>
          </a:p>
        </p:txBody>
      </p:sp>
      <p:pic>
        <p:nvPicPr>
          <p:cNvPr id="5" name="Picture 4" descr="s18_order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907792"/>
            <a:ext cx="3977639" cy="1591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5715000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5B6377"/>
                </a:solidFill>
                <a:latin typeface="Microsoft YaHei"/>
              </a:rPr>
              <a:t>顺序写错不会报错、画面也正常，只有重投影误差能一眼判死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P3 · 动手实验一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Task 02 · 填写 img_points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50292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E06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TASK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把检测器已经给出的 2D 像素点，按同样的 1→2→3→4 顺序装进 img_points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109960" cy="30632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auto armors = detector.detect(img);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if (!armors.empty()) {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auto armor = armors.front();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tools::draw_points(img, armor.points);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#### Task 02 #############################################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img_points 是 像素坐标系下 n 个点 的坐标，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也就是照片上装甲板 4 个点的坐标。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std::vector&lt;cv::Point2f&gt; img_points{ , , , };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提示：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- 看看 Armor 结构体有哪些成员；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- 4 个关键点就在 armor.points 里，顺序已由检测器规范好；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- ⚠ 不要用 armor.left / armor.right：走 YOLO 这条路它们从未被赋值，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  取出来是四个 (0,0)，solvePnP 会失败或返回垃圾位姿。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    // ###########################################################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P3 · 动手实验一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Task 03 · 调用 cv::solvePnP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50292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E06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TASK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camera_matrix / distort_coeffs 已经在代码里为你准备好，直接传入即可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109960" cy="1554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#### Task 03 ##############################################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cv::Mat rvec, tvec;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所有要传入的值都已经具备了。现在调用 solvePnP 解算装甲板位姿，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rvec 和 tvec 用于存储 solvePnP 输出的结果：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cv::solvePnP( , , , , rvec, tvec);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############################################################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P3 · 动手实验一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现场演示 &amp; Debug 小贴士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编译运行：`cd lecture4/yolo &amp;&amp; cmake -B build &amp;&amp; cmake --build build`，再 `./build/main`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跑通后画面上会打印出 tvec 的数值（还未显示，下一环节我们再打出来）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常见报错 ①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：`YAML::BadFile` / `what(): bad file: configs/yolo.yaml`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原因：在错误的目录下运行了可执行文件。注意第一个报错的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不是视频、是模型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——报错顺序反映的是构造顺序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解决：`cd` 回 `lecture4/yolo/`，再 `./build/main`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常见报错 ②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：`Failed to open video: assets/video.avi`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原因：目录对了但 assets/ 缺失（多半是拷贝时漏了，约 60MB）。解决：补齐 assets/ 三个文件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常见报错 ③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：`error while loading shared libraries: libopenvino.so.*`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解决：`source /opt/intel/openvino_2024.6.0/setupvars.sh`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终端截图：YAML::BadFile 报错 +
cd 回根目录后正常运行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P3 动手实验一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rvec 揭秘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旋转向量 / 矩阵 / 欧拉角 / 四元数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P4 rvec 揭秘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P4 · rvec 揭秘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转一转，看一看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观察环节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：盯着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画面左上角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那三行数字，看视频里那只手转动装甲板时它们怎么变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（程序默认循环播放 `assets/video.avi`——里面就是手持装甲板在动，25 秒一轮，不用等很久）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引导提问：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只绕一个轴转，rvec 的哪个分量在变？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转得越多，rvec 的数值变化有什么规律？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先靠直觉猜一猜，再看下一页的数学定义</a:t>
            </a:r>
          </a:p>
        </p:txBody>
      </p:sp>
      <p:pic>
        <p:nvPicPr>
          <p:cNvPr id="5" name="Picture 4" descr="s23_s32_runtime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112264"/>
            <a:ext cx="3977639" cy="31821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P4 rvec 揭秘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P4 · rvec 揭秘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rvec 到底是什么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旋转向量（rotation vector）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：一种紧凑的旋转表示法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方向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 = 旋转轴方向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模长（大小）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 = 绕这根轴旋转的角度（弧度）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好处：只用 3 个数就能表示任意旋转，比 3×3 的旋转矩阵更省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P4 rvec 揭秘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P4 · rvec 揭秘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旋转的几种表示法，一张图看懂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旋转向量 rvec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 --[ cv::Rodrigues，可逆 ]--&gt; 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旋转矩阵 rmat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旋转矩阵 rmat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 --[ 反三角函数 ]--&gt; 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欧拉角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（yaw / pitch / roll）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旋转矩阵 rmat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 --[ 转换公式 ]--&gt; 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四元数 quaternion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三种表示法本质等价，只是在不同场景下各有优劣（下一页展开）</a:t>
            </a:r>
          </a:p>
        </p:txBody>
      </p:sp>
      <p:pic>
        <p:nvPicPr>
          <p:cNvPr id="5" name="Picture 4" descr="s25_rotation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739985"/>
            <a:ext cx="3977639" cy="19266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P4 rvec 揭秘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P4 · rvec 揭秘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从旋转矩阵提取欧拉角（INT_YXZ 约定）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拿到 rmat（旋转矩阵）之后，用反三角函数把 yaw / pitch / roll 解出来：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11109960" cy="20116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rmat 的第 i 行第 j 列元素记作 m_ij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yaw   = atan2( m13, m33 )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pitch = -asin( m23 )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roll  = atan2( m21, m22 )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注意：atan2 / asin 算出来是弧度。本讲程序直接显示弧度（画面上的角是很小的数，如 0.12），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需要度数时再乘 57.3 (≈180/π) 换算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P4 rvec 揭秘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P4 · rvec 揭秘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欧拉角的坑：万向锁（Gimbal Lock）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6916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3D5AFE"/>
                </a:solidFill>
                <a:latin typeface="Microsoft YaHei"/>
              </a:rPr>
              <a:t>欧拉角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3D5AFE"/>
                </a:solidFill>
                <a:latin typeface="Microsoft YaHei"/>
              </a:rPr>
              <a:t>四元数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直观、好理解（yaw / pitch / roll）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表示</a:t>
            </a:r>
            <a:r>
              <a:rPr b="1" sz="1500">
                <a:solidFill>
                  <a:srgbClr val="202433"/>
                </a:solidFill>
                <a:latin typeface="Microsoft YaHei"/>
              </a:rPr>
              <a:t>不唯一</a:t>
            </a:r>
            <a:r>
              <a:rPr b="0" sz="1500">
                <a:solidFill>
                  <a:srgbClr val="202433"/>
                </a:solidFill>
                <a:latin typeface="Microsoft YaHei"/>
              </a:rPr>
              <a:t>：不同旋转顺序结果不同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特定姿态下会</a:t>
            </a:r>
            <a:r>
              <a:rPr b="1" sz="1500">
                <a:solidFill>
                  <a:srgbClr val="202433"/>
                </a:solidFill>
                <a:latin typeface="Microsoft YaHei"/>
              </a:rPr>
              <a:t>丢失一个自由度</a:t>
            </a:r>
            <a:r>
              <a:rPr b="0" sz="1500">
                <a:solidFill>
                  <a:srgbClr val="202433"/>
                </a:solidFill>
                <a:latin typeface="Microsoft YaHei"/>
              </a:rPr>
              <a:t>（万向锁）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4 个数 (w, x, y, z)，无奇异点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插值、连续旋转更稳健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不直观，本讲不展开推导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500">
                <a:solidFill>
                  <a:srgbClr val="202433"/>
                </a:solidFill>
                <a:latin typeface="Microsoft YaHei"/>
              </a:rPr>
              <a:t>· 课后可用 </a:t>
            </a:r>
            <a:r>
              <a:rPr b="1" sz="1500">
                <a:solidFill>
                  <a:srgbClr val="202433"/>
                </a:solidFill>
                <a:latin typeface="Microsoft YaHei"/>
              </a:rPr>
              <a:t>quaternions.online</a:t>
            </a:r>
            <a:r>
              <a:rPr b="0" sz="1500">
                <a:solidFill>
                  <a:srgbClr val="202433"/>
                </a:solidFill>
                <a:latin typeface="Microsoft YaHei"/>
              </a:rPr>
              <a:t> 交互体验两者关系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P4 rvec 揭秘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动手实验二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Task 04~05：把旋转变成看得懂的角度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P5 动手实验二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P5 · 动手实验二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Task 04 · 把 tvec / rvec 打印到画面上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50292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E06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TASK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现在 draw_text 只会打印 0.0，改写参数把真实解出来的值显示出来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109960" cy="26517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#### Task 04 ####################################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现在，draw_text 只打印 0.0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请你改写下面 draw_text 的参数，把解得的 tvec 和 rvec 打印出来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tools::draw_text(img, fmt::format(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"tvec:  x{:.2f} y{:.2f} z{:.2f}",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tvec.at&lt;double&gt;(0), tvec.at&lt;double&gt;(1), tvec.at&lt;double&gt;(2)), ...);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tools::draw_text(img, fmt::format(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"rvec:  x{:.2f} y{:.2f} z{:.2f}",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rvec.at&lt;double&gt;(0), rvec.at&lt;double&gt;(1), rvec.at&lt;double&gt;(2)), ...);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7608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400">
                <a:solidFill>
                  <a:srgbClr val="5B6377"/>
                </a:solidFill>
                <a:latin typeface="Microsoft YaHei"/>
              </a:rPr>
              <a:t>· 提示：`tvec.at&lt;double&gt;(0)` 取出的是一个 double，即 tvec 的第一个元素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P5 动手实验二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P5 · 动手实验二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Task 05 · rvec → rmat → 欧拉角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50292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E06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TASK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600">
                <a:solidFill>
                  <a:srgbClr val="202433"/>
                </a:solidFill>
                <a:latin typeface="Microsoft YaHei"/>
              </a:rPr>
              <a:t>· 用 cv::Rodrigues 把 rvec 转成 rmat，再套用上一环节的反三角函数公式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109960" cy="27432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46304"/>
          <a:lstStyle/>
          <a:p>
            <a:pPr algn="ctr"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#### Task 05 ####################################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使用 cv::Rodrigues，把 rvec 旋转向量转换为 rmat 旋转矩阵，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再用反三角函数把 rmat 中的元素转化为欧拉角，并显示在画面上。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cv::Mat rmat;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cv::Rodrigues(rvec, rmat);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tools::draw_text(img, fmt::format(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"euler angles:  yaw{:.2f} pitch{:.2f} roll{:.2f}",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yaw, pitch, roll), ...);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提示：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- cv::Mat 下标从 0 开始；</a:t>
            </a:r>
          </a:p>
          <a:p>
            <a:pPr>
              <a:lnSpc>
                <a:spcPct val="105000"/>
              </a:lnSpc>
            </a:pPr>
            <a:r>
              <a:rPr sz="1350">
                <a:solidFill>
                  <a:srgbClr val="6A9955"/>
                </a:solidFill>
                <a:latin typeface="Consolas"/>
              </a:rPr>
              <a:t>// - 取元素方式和 tvec 类似，例如 rmat.at&lt;double&gt;(0, 2)。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P5 动手实验二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P5 · 动手实验二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重投影误差：给点序配一把尺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前面反复说「点序错了不报错、最难查」——现在给你一个一眼判死的工具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做法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：把 object_points 用解得的位姿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投影回图像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，和检测到的 img_points 比像素距离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判读口径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：个位数像素 = 对的；两位数 = 错的。中间没有灰色地带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参考实现 `./build/answer` 已经把这一行画在画面上（`reproj err`），比学生版多这一行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学生自己那份没有这一行——想自查就 `#include "tools/pnp_check.hpp"` 加上（header-only，不用改 CMake）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这条和上一页的点序陷阱是配对的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：一个说坑在哪，一个给出路</a:t>
            </a:r>
          </a:p>
        </p:txBody>
      </p:sp>
      <p:pic>
        <p:nvPicPr>
          <p:cNvPr id="5" name="Picture 4" descr="s18_order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907792"/>
            <a:ext cx="3977639" cy="1591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P5 动手实验二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P5 · 动手实验二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现场演示 &amp; 互动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观察画面左上角：视频里那只手转动装甲板时，yaw / pitch / roll 数值实时变化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      ‑ （按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空格键可以暂停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，停在某一帧上慢慢看；再按一次继续）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邀请 1~2 位同学上台演示，说说自己观察到的变化规律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提问：把装甲板前后移动（不转动），tvec 和 rvec 分别会怎么变？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验收判据：tvec.z 在 0.2~0.7 之间、跟着画面里的远近连续变、不乱跳。别用「框画出来了」当判据——画框那行在 Task 02 之前，一个字不填它也画</a:t>
            </a:r>
          </a:p>
        </p:txBody>
      </p:sp>
      <p:pic>
        <p:nvPicPr>
          <p:cNvPr id="5" name="Picture 4" descr="s23_s32_runtime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112264"/>
            <a:ext cx="3977639" cy="31821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P5 动手实验二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坐标系全景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从像素到机器人本体 / IMU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P6 坐标系全景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P6 · 坐标系全景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我真的对准了吗？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相机坐标系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：与相机刚性连接的坐标系，随相机一起平移、旋转；原点 = 镜头光心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思考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：如果相机安装时有倾斜，并且和枪管不在同一个位置，会发生什么？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答案：仅靠“装甲板在相机坐标系下的位姿”还不够，还要知道相机相对枪管/机器人本体的安装关系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相机与枪管不共轴的实拍照片
（两套坐标轴叠加标注）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P6 坐标系全景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P6 · 坐标系全景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完整的坐标变换链条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像素坐标系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--（今天学的 solvePnP）--&gt;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相机坐标系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相机坐标系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--（手眼标定，进阶内容）--&gt;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机器人本体坐标系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机器人本体坐标系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--（实际测量安装）--&gt;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IMU 坐标系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今天我们打通了第一环；手眼标定和运动预测（卡尔曼滤波）留给后续课程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977639" cy="393192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377"/>
                </a:solidFill>
                <a:latin typeface="Microsoft YaHei"/>
              </a:rPr>
              <a:t>🖼  实物机器人标注 imu / base_link /
camera 三套坐标轴的照片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P6 坐标系全景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4C98C"/>
                </a:solidFill>
                <a:latin typeface="Consolas"/>
              </a:rPr>
              <a:t>P7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5F9"/>
                </a:solidFill>
                <a:latin typeface="Microsoft YaHei"/>
              </a:rPr>
              <a:t>总结与作业</a:t>
            </a:r>
          </a:p>
          <a:p>
            <a:r>
              <a:rPr sz="1800">
                <a:solidFill>
                  <a:srgbClr val="A9B4C9"/>
                </a:solidFill>
                <a:latin typeface="Microsoft YaHei"/>
              </a:rPr>
              <a:t>回顾、答疑、布置任务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9B4C9"/>
                </a:solidFill>
                <a:latin typeface="Consolas"/>
              </a:rPr>
              <a:t>Hello Armor · 装甲板位姿解算    P7 总结与作业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4C9"/>
                </a:solidFill>
                <a:latin typeface="Consola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P7 · 总结与作业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本讲回顾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· 位姿 =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位置（3D 向量）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 +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朝向（旋转）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PnP 问题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：n 组 3D-2D 对应点 + 相机内参 → 解出 R, t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cv::solvePnP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：输入 4 类数据，输出 rvec / tvec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tvec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 = 装甲板原点在相机坐标系下的位置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rvec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 --Rodrigues--&gt;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rmat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 --反三角函数--&gt;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欧拉角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 / 四元数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· 欧拉角存在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万向锁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问题，四元数更稳健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· 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object_points 与 img_points 必须一一对应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；写错了不报错、画面正常、数值有值，但位姿全错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· 自查手段：</a:t>
            </a:r>
            <a:r>
              <a:rPr b="1" sz="1700">
                <a:solidFill>
                  <a:srgbClr val="3D5AFE"/>
                </a:solidFill>
                <a:latin typeface="Microsoft YaHei"/>
              </a:rPr>
              <a:t>重投影误差</a:t>
            </a:r>
            <a:r>
              <a:rPr b="0" sz="1700">
                <a:solidFill>
                  <a:srgbClr val="202433"/>
                </a:solidFill>
                <a:latin typeface="Microsoft YaHei"/>
              </a:rPr>
              <a:t>（个位数像素=对，两位数=错）；顺带记住「注释会过期，实测不会撒谎」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1700">
                <a:solidFill>
                  <a:srgbClr val="202433"/>
                </a:solidFill>
                <a:latin typeface="Microsoft YaHei"/>
              </a:rPr>
              <a:t>· 完整链条：像素 → 相机（solvePnP）→ 机器人本体（手眼标定）→ IMU（安装测量）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P7 总结与作业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C98C"/>
                </a:solidFill>
                <a:latin typeface="Consolas"/>
              </a:rPr>
              <a:t>P7 · 总结与作业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433"/>
                </a:solidFill>
                <a:latin typeface="Microsoft YaHei"/>
              </a:rPr>
              <a:t>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①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必做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：完成 Task 01~05（课上未完成的部分），跑通并正确显示 tvec / rvec / yaw / pitch / roll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②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进阶（二选一）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：A 接 HikRobot 真相机（需 MVS SDK，用自己标定的内参替换 main.cpp 顶部那两组）；B 补上 `lecture4/homework/` 里 `Buff_Solver::solvePnP()` 的空函数体（能量机关脚手架已经搭好，注意它的 OpenVINO 路径与 yolo/ 工程不同）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③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思考题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：什么姿态下欧拉角会出现万向锁？用 </a:t>
            </a:r>
            <a:r>
              <a:rPr b="1" sz="2000">
                <a:solidFill>
                  <a:srgbClr val="3D5AFE"/>
                </a:solidFill>
                <a:latin typeface="Microsoft YaHei"/>
              </a:rPr>
              <a:t>quaternions.online</a:t>
            </a:r>
            <a:r>
              <a:rPr b="0" sz="2000">
                <a:solidFill>
                  <a:srgbClr val="202433"/>
                </a:solidFill>
                <a:latin typeface="Microsoft YaHei"/>
              </a:rPr>
              <a:t> 验证你的猜想，下节课抽查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b="0" sz="2000">
                <a:solidFill>
                  <a:srgbClr val="202433"/>
                </a:solidFill>
                <a:latin typeface="Microsoft YaHei"/>
              </a:rPr>
              <a:t>· （可选自查练习）故意把 object_points 第 2、4 点对调，记录 reproj err 从多少变成多少，并解释为什么 tvec 仍然「看起来像个正常数字」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377"/>
                </a:solidFill>
                <a:latin typeface="Consolas"/>
              </a:rPr>
              <a:t>Hello Armor · 装甲板位姿解算    P7 总结与作业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77"/>
                </a:solidFill>
                <a:latin typeface="Consola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3F5F9"/>
                </a:solidFill>
                <a:latin typeface="Microsoft YaHei"/>
              </a:rPr>
              <a:t>Thanks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9B4C9"/>
                </a:solidFill>
                <a:latin typeface="Microsoft YaHei"/>
              </a:rPr>
              <a:t>下一讲：Hello Kalman &amp;&amp; Target —— 目标还在动，你得预测它下一刻在哪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9B4C9"/>
                </a:solidFill>
                <a:latin typeface="Microsoft YaHei"/>
              </a:rPr>
              <a:t>（手眼标定是自瞄绕不过去的一步，但不会单独占一讲）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